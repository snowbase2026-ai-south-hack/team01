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2236"/>
          </a:solidFill>
          <a:ln w="12700">
            <a:solidFill>
              <a:srgbClr val="0F223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873A"/>
          </a:solidFill>
          <a:ln w="12700">
            <a:solidFill>
              <a:srgbClr val="E887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364992" y="0"/>
            <a:ext cx="109728" cy="5143500"/>
          </a:xfrm>
          <a:prstGeom prst="rect">
            <a:avLst/>
          </a:prstGeom>
          <a:solidFill>
            <a:srgbClr val="2E7BC4"/>
          </a:solidFill>
          <a:ln w="12700">
            <a:solidFill>
              <a:srgbClr val="2E7B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56032" y="347472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300" kern="0" dirty="0">
                <a:solidFill>
                  <a:srgbClr val="E88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СТРАТЕГИЧЕСКАЯ СЕССИЯ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256032" y="694944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AI-персонализация:</a:t>
            </a:r>
            <a:endParaRPr lang="en-US" sz="2000" dirty="0"/>
          </a:p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решение по масштабированию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256032" y="206654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6E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BigTechGroup · Март 2026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56032" y="2395728"/>
            <a:ext cx="2926080" cy="0"/>
          </a:xfrm>
          <a:prstGeom prst="line">
            <a:avLst/>
          </a:prstGeom>
          <a:noFill/>
          <a:ln w="10160">
            <a:solidFill>
              <a:srgbClr val="D6E0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6032" y="248716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D6E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Участники: CEO, CFO, COO, CAITO, ML-команда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56032" y="272491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D6E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Повестка: принять решение за 14 дней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749040" y="34747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200" kern="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ПОВЕСТКЕ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749040" y="749808"/>
            <a:ext cx="5120640" cy="1024128"/>
          </a:xfrm>
          <a:prstGeom prst="rect">
            <a:avLst/>
          </a:prstGeom>
          <a:solidFill>
            <a:srgbClr val="1B3A5C"/>
          </a:solidFill>
          <a:ln w="19050">
            <a:solidFill>
              <a:srgbClr val="D4850A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749040" y="749808"/>
            <a:ext cx="402336" cy="1024128"/>
          </a:xfrm>
          <a:prstGeom prst="rect">
            <a:avLst/>
          </a:prstGeom>
          <a:solidFill>
            <a:srgbClr val="D4850A"/>
          </a:solidFill>
          <a:ln w="12700">
            <a:solidFill>
              <a:srgbClr val="D4850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49040" y="749808"/>
            <a:ext cx="402336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242816" y="841248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Масштабировать сейчас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242816" y="1261872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D6E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Федеральный запуск немедленно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749040" y="1938528"/>
            <a:ext cx="5120640" cy="1024128"/>
          </a:xfrm>
          <a:prstGeom prst="rect">
            <a:avLst/>
          </a:prstGeom>
          <a:solidFill>
            <a:srgbClr val="1B3A5C"/>
          </a:solidFill>
          <a:ln w="19050">
            <a:solidFill>
              <a:srgbClr val="1D5FA6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1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749040" y="1938528"/>
            <a:ext cx="402336" cy="1024128"/>
          </a:xfrm>
          <a:prstGeom prst="rect">
            <a:avLst/>
          </a:prstGeom>
          <a:solidFill>
            <a:srgbClr val="1D5FA6"/>
          </a:solidFill>
          <a:ln w="12700">
            <a:solidFill>
              <a:srgbClr val="1D5FA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749040" y="1938528"/>
            <a:ext cx="402336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242816" y="2029968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Отложить на 2–3 месяца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242816" y="2450592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D6E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Подготовить инфраструктуру и ретрейн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749040" y="3127248"/>
            <a:ext cx="5120640" cy="1024128"/>
          </a:xfrm>
          <a:prstGeom prst="rect">
            <a:avLst/>
          </a:prstGeom>
          <a:solidFill>
            <a:srgbClr val="1B3A5C"/>
          </a:solidFill>
          <a:ln w="19050">
            <a:solidFill>
              <a:srgbClr val="C0392B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1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749040" y="3127248"/>
            <a:ext cx="402336" cy="102412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749040" y="3127248"/>
            <a:ext cx="402336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242816" y="3218688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Остановить проект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242816" y="3639312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D6E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Пересмотреть стратегию AI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E8873A"/>
          </a:solidFill>
          <a:ln w="12700">
            <a:solidFill>
              <a:srgbClr val="E887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E8873A"/>
          </a:solidFill>
          <a:ln w="12700">
            <a:solidFill>
              <a:srgbClr val="E887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01168" y="5486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300" kern="0" dirty="0">
                <a:solidFill>
                  <a:srgbClr val="E88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КОНТЕКСТ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01168" y="164592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происходит с компанией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01168" y="786384"/>
            <a:ext cx="2084832" cy="3895344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01168" y="786384"/>
            <a:ext cx="2084832" cy="201168"/>
          </a:xfrm>
          <a:prstGeom prst="rect">
            <a:avLst/>
          </a:prstGeom>
          <a:solidFill>
            <a:srgbClr val="1D5FA6"/>
          </a:solidFill>
          <a:ln w="12700">
            <a:solidFill>
              <a:srgbClr val="1D5F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0896" y="1042416"/>
            <a:ext cx="18653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D5F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Рынок растёт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10896" y="1426464"/>
            <a:ext cx="1865376" cy="0"/>
          </a:xfrm>
          <a:prstGeom prst="line">
            <a:avLst/>
          </a:prstGeom>
          <a:noFill/>
          <a:ln w="10160">
            <a:solidFill>
              <a:srgbClr val="D6E0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0896" y="1499616"/>
            <a:ext cx="1865376" cy="2999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0F22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Онлайн +57% г/г. Конкурент A запустил федеральный AI в Q4'25. Рыночное окно — 6–9 месяцев.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395728" y="786384"/>
            <a:ext cx="2084832" cy="3895344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395728" y="786384"/>
            <a:ext cx="2084832" cy="20116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05456" y="1042416"/>
            <a:ext cx="18653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Модель деградирует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505456" y="1426464"/>
            <a:ext cx="1865376" cy="0"/>
          </a:xfrm>
          <a:prstGeom prst="line">
            <a:avLst/>
          </a:prstGeom>
          <a:noFill/>
          <a:ln w="10160">
            <a:solidFill>
              <a:srgbClr val="D6E0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05456" y="1499616"/>
            <a:ext cx="1865376" cy="2999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0F22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Precision@10: 0.412 → 0.341 за 13 месяцев. Порог нарушен. Конверсия рекомендаций −23%.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90288" y="786384"/>
            <a:ext cx="2084832" cy="3895344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90288" y="786384"/>
            <a:ext cx="2084832" cy="201168"/>
          </a:xfrm>
          <a:prstGeom prst="rect">
            <a:avLst/>
          </a:prstGeom>
          <a:solidFill>
            <a:srgbClr val="D4850A"/>
          </a:solidFill>
          <a:ln w="12700">
            <a:solidFill>
              <a:srgbClr val="D4850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00016" y="1042416"/>
            <a:ext cx="18653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485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Инфраструктура на пределе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00016" y="1426464"/>
            <a:ext cx="1865376" cy="0"/>
          </a:xfrm>
          <a:prstGeom prst="line">
            <a:avLst/>
          </a:prstGeom>
          <a:noFill/>
          <a:ln w="10160">
            <a:solidFill>
              <a:srgbClr val="D6E0E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00016" y="1499616"/>
            <a:ext cx="1865376" cy="2999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0F22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Серверы загружены на 74% (пик 91%). Data freshness 18 ч вместо нормы 4 ч. SLA уже ниже 95%.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784848" y="786384"/>
            <a:ext cx="2084832" cy="3895344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784848" y="786384"/>
            <a:ext cx="2084832" cy="201168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94576" y="1042416"/>
            <a:ext cx="18653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Бюджет ограничен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894576" y="1426464"/>
            <a:ext cx="1865376" cy="0"/>
          </a:xfrm>
          <a:prstGeom prst="line">
            <a:avLst/>
          </a:prstGeom>
          <a:noFill/>
          <a:ln w="10160">
            <a:solidFill>
              <a:srgbClr val="D6E0E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94576" y="1499616"/>
            <a:ext cx="1865376" cy="2999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0F22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CFO рассматривает CAPEX −30%. Payback вырастет с 10 до 16 месяцев. Резерв проекта исчезает.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E8873A"/>
          </a:solidFill>
          <a:ln w="12700">
            <a:solidFill>
              <a:srgbClr val="E887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01168" y="5486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300" kern="0" dirty="0">
                <a:solidFill>
                  <a:srgbClr val="E05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ML-МОДЕЛЬ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01168" y="164592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Деградация модели персонализации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01168" y="1243584"/>
            <a:ext cx="7132320" cy="73152"/>
          </a:xfrm>
          <a:prstGeom prst="rect">
            <a:avLst/>
          </a:prstGeom>
          <a:solidFill>
            <a:srgbClr val="D6E0EA"/>
          </a:solidFill>
          <a:ln w="12700">
            <a:solidFill>
              <a:srgbClr val="D6E0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9728" y="1188720"/>
            <a:ext cx="182880" cy="182880"/>
          </a:xfrm>
          <a:prstGeom prst="ellipse">
            <a:avLst/>
          </a:prstGeom>
          <a:solidFill>
            <a:srgbClr val="1D5FA6"/>
          </a:solidFill>
          <a:ln w="12700">
            <a:solidFill>
              <a:srgbClr val="1D5F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-256032" y="84124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Q1'25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Пилот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-164592" y="1435608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D5F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0.412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1892808" y="1188720"/>
            <a:ext cx="182880" cy="182880"/>
          </a:xfrm>
          <a:prstGeom prst="ellipse">
            <a:avLst/>
          </a:prstGeom>
          <a:solidFill>
            <a:srgbClr val="1D5FA6"/>
          </a:solidFill>
          <a:ln w="12700">
            <a:solidFill>
              <a:srgbClr val="1D5FA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527048" y="84124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Q2'25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618488" y="1435608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D5F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0.401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675888" y="1188720"/>
            <a:ext cx="182880" cy="182880"/>
          </a:xfrm>
          <a:prstGeom prst="ellipse">
            <a:avLst/>
          </a:prstGeom>
          <a:solidFill>
            <a:srgbClr val="D4850A"/>
          </a:solidFill>
          <a:ln w="12700">
            <a:solidFill>
              <a:srgbClr val="D4850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10128" y="84124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Q3'25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401568" y="1435608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485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0.385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127248" y="1682496"/>
            <a:ext cx="1280160" cy="219456"/>
          </a:xfrm>
          <a:prstGeom prst="roundRect">
            <a:avLst>
              <a:gd name="adj" fmla="val 25000"/>
            </a:avLst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127248" y="1682496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Ретрейн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458968" y="1188720"/>
            <a:ext cx="182880" cy="182880"/>
          </a:xfrm>
          <a:prstGeom prst="ellipse">
            <a:avLst/>
          </a:prstGeom>
          <a:solidFill>
            <a:srgbClr val="D4850A"/>
          </a:solidFill>
          <a:ln w="12700">
            <a:solidFill>
              <a:srgbClr val="D4850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93208" y="84124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Q4'25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5184648" y="1435608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485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0.362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910328" y="1682496"/>
            <a:ext cx="1280160" cy="219456"/>
          </a:xfrm>
          <a:prstGeom prst="roundRect">
            <a:avLst>
              <a:gd name="adj" fmla="val 25000"/>
            </a:avLst>
          </a:prstGeom>
          <a:solidFill>
            <a:srgbClr val="D4850A"/>
          </a:solidFill>
          <a:ln w="12700">
            <a:solidFill>
              <a:srgbClr val="D4850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10328" y="1682496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Пик Black Friday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7242048" y="1188720"/>
            <a:ext cx="182880" cy="18288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76288" y="84124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Q1'26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Сейчас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6967728" y="1435608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0.341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693408" y="1682496"/>
            <a:ext cx="1280160" cy="219456"/>
          </a:xfrm>
          <a:prstGeom prst="roundRect">
            <a:avLst>
              <a:gd name="adj" fmla="val 25000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693408" y="1682496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Порог нарушен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01168" y="1938528"/>
            <a:ext cx="7132320" cy="0"/>
          </a:xfrm>
          <a:prstGeom prst="line">
            <a:avLst/>
          </a:prstGeom>
          <a:noFill/>
          <a:ln w="12700">
            <a:solidFill>
              <a:srgbClr val="C0392B"/>
            </a:solidFill>
            <a:prstDash val="dash"/>
          </a:ln>
        </p:spPr>
      </p:sp>
      <p:sp>
        <p:nvSpPr>
          <p:cNvPr id="31" name="Text 29"/>
          <p:cNvSpPr/>
          <p:nvPr/>
        </p:nvSpPr>
        <p:spPr>
          <a:xfrm>
            <a:off x="310896" y="1938528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Порог Precision@10 = 0.350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201168" y="3364992"/>
            <a:ext cx="1920240" cy="1005840"/>
          </a:xfrm>
          <a:prstGeom prst="rect">
            <a:avLst/>
          </a:prstGeom>
          <a:solidFill>
            <a:srgbClr val="FFFFFF"/>
          </a:solidFill>
          <a:ln w="25400">
            <a:solidFill>
              <a:srgbClr val="C0392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201168" y="3438144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−23%</a:t>
            </a:r>
            <a:endParaRPr lang="en-US" sz="2600" dirty="0"/>
          </a:p>
        </p:txBody>
      </p:sp>
      <p:sp>
        <p:nvSpPr>
          <p:cNvPr id="34" name="Text 32"/>
          <p:cNvSpPr/>
          <p:nvPr/>
        </p:nvSpPr>
        <p:spPr>
          <a:xfrm>
            <a:off x="201168" y="3895344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конверсия рек.→покупка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201168" y="4078224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пилот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2432304" y="3364992"/>
            <a:ext cx="1920240" cy="1005840"/>
          </a:xfrm>
          <a:prstGeom prst="rect">
            <a:avLst/>
          </a:prstGeom>
          <a:solidFill>
            <a:srgbClr val="FFFFFF"/>
          </a:solidFill>
          <a:ln w="25400">
            <a:solidFill>
              <a:srgbClr val="C0392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2432304" y="3438144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+40%</a:t>
            </a:r>
            <a:endParaRPr lang="en-US" sz="2600" dirty="0"/>
          </a:p>
        </p:txBody>
      </p:sp>
      <p:sp>
        <p:nvSpPr>
          <p:cNvPr id="38" name="Text 36"/>
          <p:cNvSpPr/>
          <p:nvPr/>
        </p:nvSpPr>
        <p:spPr>
          <a:xfrm>
            <a:off x="2432304" y="3895344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ошибочных рекомендаций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2432304" y="4078224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 масштабировании без ретрейна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4663440" y="3364992"/>
            <a:ext cx="1920240" cy="1005840"/>
          </a:xfrm>
          <a:prstGeom prst="rect">
            <a:avLst/>
          </a:prstGeom>
          <a:solidFill>
            <a:srgbClr val="FFFFFF"/>
          </a:solidFill>
          <a:ln w="25400">
            <a:solidFill>
              <a:srgbClr val="D4850A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4663440" y="3438144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485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ч</a:t>
            </a:r>
            <a:endParaRPr lang="en-US" sz="2600" dirty="0"/>
          </a:p>
        </p:txBody>
      </p:sp>
      <p:sp>
        <p:nvSpPr>
          <p:cNvPr id="42" name="Text 40"/>
          <p:cNvSpPr/>
          <p:nvPr/>
        </p:nvSpPr>
        <p:spPr>
          <a:xfrm>
            <a:off x="4663440" y="3895344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freshness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663440" y="4078224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норма &lt; 4 ч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6894576" y="3364992"/>
            <a:ext cx="1920240" cy="1005840"/>
          </a:xfrm>
          <a:prstGeom prst="rect">
            <a:avLst/>
          </a:prstGeom>
          <a:solidFill>
            <a:srgbClr val="FFFFFF"/>
          </a:solidFill>
          <a:ln w="25400">
            <a:solidFill>
              <a:srgbClr val="D4850A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6894576" y="3438144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485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91%</a:t>
            </a:r>
            <a:endParaRPr lang="en-US" sz="2600" dirty="0"/>
          </a:p>
        </p:txBody>
      </p:sp>
      <p:sp>
        <p:nvSpPr>
          <p:cNvPr id="46" name="Text 44"/>
          <p:cNvSpPr/>
          <p:nvPr/>
        </p:nvSpPr>
        <p:spPr>
          <a:xfrm>
            <a:off x="6894576" y="3895344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пиковая загрузка серверов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6894576" y="4078224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норма &lt; 85%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201168" y="4668012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i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⚑  Деградация ускоряется. При масштабировании без переобучения — доля ошибок вырастет с 22.8% до ~32%.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E8873A"/>
          </a:solidFill>
          <a:ln w="12700">
            <a:solidFill>
              <a:srgbClr val="E887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D4850A"/>
          </a:solidFill>
          <a:ln w="12700">
            <a:solidFill>
              <a:srgbClr val="D4850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01168" y="5486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300" kern="0" dirty="0">
                <a:solidFill>
                  <a:srgbClr val="E88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ОПЕРАЦИОНИКА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01168" y="164592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сломается при +20% заказов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01168" y="768096"/>
            <a:ext cx="4206240" cy="4041648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01168" y="768096"/>
            <a:ext cx="4206240" cy="292608"/>
          </a:xfrm>
          <a:prstGeom prst="rect">
            <a:avLst/>
          </a:prstGeom>
          <a:solidFill>
            <a:srgbClr val="1D5FA6"/>
          </a:solidFill>
          <a:ln w="12700">
            <a:solidFill>
              <a:srgbClr val="1D5F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0896" y="768096"/>
            <a:ext cx="3986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СЕЙЧАС — Q1 2026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47472" y="1152144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F22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 поставок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139696" y="1152144"/>
            <a:ext cx="877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D485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94.8%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176272" y="137160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норма ≥ 95%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47472" y="1609344"/>
            <a:ext cx="3913632" cy="0"/>
          </a:xfrm>
          <a:prstGeom prst="line">
            <a:avLst/>
          </a:prstGeom>
          <a:noFill/>
          <a:ln w="10160">
            <a:solidFill>
              <a:srgbClr val="D6E0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7472" y="1700784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F22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Out-of-stock (онлайн)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139696" y="1700784"/>
            <a:ext cx="877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D485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4.1%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176272" y="192024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норма &lt; 3.5%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347472" y="2157984"/>
            <a:ext cx="3913632" cy="0"/>
          </a:xfrm>
          <a:prstGeom prst="line">
            <a:avLst/>
          </a:prstGeom>
          <a:noFill/>
          <a:ln w="10160">
            <a:solidFill>
              <a:srgbClr val="D6E0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7472" y="2249424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F22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Загрузка РЦ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139696" y="2249424"/>
            <a:ext cx="877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D485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83%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2176272" y="246888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норма &lt; 85%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347472" y="2706624"/>
            <a:ext cx="3913632" cy="0"/>
          </a:xfrm>
          <a:prstGeom prst="line">
            <a:avLst/>
          </a:prstGeom>
          <a:noFill/>
          <a:ln w="10160">
            <a:solidFill>
              <a:srgbClr val="D6E0E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7472" y="2798064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F22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Потери от OOS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2139696" y="2798064"/>
            <a:ext cx="877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D485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620 млн ₽/год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2176272" y="301752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уже сверх нормы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347472" y="3255264"/>
            <a:ext cx="3913632" cy="0"/>
          </a:xfrm>
          <a:prstGeom prst="line">
            <a:avLst/>
          </a:prstGeom>
          <a:noFill/>
          <a:ln w="10160">
            <a:solidFill>
              <a:srgbClr val="D6E0E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7472" y="3346704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F22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Списания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2139696" y="3346704"/>
            <a:ext cx="877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D485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1.31%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2176272" y="356616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норма &lt; 1.2%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347472" y="3803904"/>
            <a:ext cx="3913632" cy="0"/>
          </a:xfrm>
          <a:prstGeom prst="line">
            <a:avLst/>
          </a:prstGeom>
          <a:noFill/>
          <a:ln w="10160">
            <a:solidFill>
              <a:srgbClr val="D6E0E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736592" y="768096"/>
            <a:ext cx="4206240" cy="4041648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736592" y="768096"/>
            <a:ext cx="4206240" cy="2926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46320" y="768096"/>
            <a:ext cx="3986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 +20% ЗАКАЗОВ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864608" y="1152144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F22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 поставок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492240" y="1152144"/>
            <a:ext cx="1700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92.0%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4864608" y="1371600"/>
            <a:ext cx="2487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−2.8 пп, стоимость ~252 млн ₽/год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4864608" y="1609344"/>
            <a:ext cx="3913632" cy="0"/>
          </a:xfrm>
          <a:prstGeom prst="line">
            <a:avLst/>
          </a:prstGeom>
          <a:noFill/>
          <a:ln w="10160">
            <a:solidFill>
              <a:srgbClr val="D6E0E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64608" y="1700784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F22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Out-of-stock (онлайн)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6492240" y="1700784"/>
            <a:ext cx="1700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6.3%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4864608" y="1920240"/>
            <a:ext cx="2487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+2.2 пп → потери 870–980 млн ₽/год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4864608" y="2157984"/>
            <a:ext cx="3913632" cy="0"/>
          </a:xfrm>
          <a:prstGeom prst="line">
            <a:avLst/>
          </a:prstGeom>
          <a:noFill/>
          <a:ln w="10160">
            <a:solidFill>
              <a:srgbClr val="D6E0E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64608" y="2249424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F22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Загрузка РЦ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6492240" y="2249424"/>
            <a:ext cx="1700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99%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4864608" y="2468880"/>
            <a:ext cx="2487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пики &gt;100% → срывы и очереди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4864608" y="2706624"/>
            <a:ext cx="3913632" cy="0"/>
          </a:xfrm>
          <a:prstGeom prst="line">
            <a:avLst/>
          </a:prstGeom>
          <a:noFill/>
          <a:ln w="10160">
            <a:solidFill>
              <a:srgbClr val="D6E0E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64608" y="2798064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F22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Потери от OOS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6492240" y="2798064"/>
            <a:ext cx="1700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930 млн ₽/год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4864608" y="3017520"/>
            <a:ext cx="2487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+310 млн vs сейчас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4864608" y="3255264"/>
            <a:ext cx="3913632" cy="0"/>
          </a:xfrm>
          <a:prstGeom prst="line">
            <a:avLst/>
          </a:prstGeom>
          <a:noFill/>
          <a:ln w="10160">
            <a:solidFill>
              <a:srgbClr val="D6E0E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864608" y="3346704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F22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Суммарные опер. потери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6492240" y="3346704"/>
            <a:ext cx="1700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~1.5 млрд ₽/год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4864608" y="3566160"/>
            <a:ext cx="2487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перекрывают доп. выручку 480 млн ₽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4864608" y="3803904"/>
            <a:ext cx="3913632" cy="0"/>
          </a:xfrm>
          <a:prstGeom prst="line">
            <a:avLst/>
          </a:prstGeom>
          <a:noFill/>
          <a:ln w="10160">
            <a:solidFill>
              <a:srgbClr val="D6E0E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407408" y="2286000"/>
            <a:ext cx="329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8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E8873A"/>
          </a:solidFill>
          <a:ln w="12700">
            <a:solidFill>
              <a:srgbClr val="E887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01168" y="5486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300" kern="0" dirty="0">
                <a:solidFill>
                  <a:srgbClr val="1A6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ЭКОНОМИКА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01168" y="164592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Финансовая модель: три сценария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01168" y="768096"/>
            <a:ext cx="2816352" cy="4041648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01168" y="768096"/>
            <a:ext cx="2816352" cy="347472"/>
          </a:xfrm>
          <a:prstGeom prst="rect">
            <a:avLst/>
          </a:prstGeom>
          <a:solidFill>
            <a:srgbClr val="D4850A"/>
          </a:solidFill>
          <a:ln w="12700">
            <a:solidFill>
              <a:srgbClr val="D4850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0896" y="768096"/>
            <a:ext cx="2596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Сценарий A: Ретрейн + запуск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10896" y="1170432"/>
            <a:ext cx="2596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Немедленное переобучение,</a:t>
            </a:r>
            <a:endParaRPr lang="en-US" sz="900" dirty="0"/>
          </a:p>
          <a:p>
            <a:pPr algn="l" indent="0" marL="0">
              <a:buNone/>
            </a:pPr>
            <a:r>
              <a:rPr lang="en-US" sz="900" i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затем масштабирование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10896" y="1591056"/>
            <a:ext cx="154899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Бюджет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10896" y="1591056"/>
            <a:ext cx="2596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0F22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340 млн ₽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10896" y="1865376"/>
            <a:ext cx="2596896" cy="0"/>
          </a:xfrm>
          <a:prstGeom prst="line">
            <a:avLst/>
          </a:prstGeom>
          <a:noFill/>
          <a:ln w="10160">
            <a:solidFill>
              <a:srgbClr val="D6E0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10896" y="1920240"/>
            <a:ext cx="154899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Доп. выручка год 1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10896" y="1920240"/>
            <a:ext cx="2596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0F22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440–460 млн ₽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10896" y="2194560"/>
            <a:ext cx="2596896" cy="0"/>
          </a:xfrm>
          <a:prstGeom prst="line">
            <a:avLst/>
          </a:prstGeom>
          <a:noFill/>
          <a:ln w="10160">
            <a:solidFill>
              <a:srgbClr val="D6E0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10896" y="2249424"/>
            <a:ext cx="154899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Доп. выручка год 2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10896" y="2249424"/>
            <a:ext cx="2596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0F22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820–870 млн ₽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10896" y="2523744"/>
            <a:ext cx="2596896" cy="0"/>
          </a:xfrm>
          <a:prstGeom prst="line">
            <a:avLst/>
          </a:prstGeom>
          <a:noFill/>
          <a:ln w="10160">
            <a:solidFill>
              <a:srgbClr val="D6E0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10896" y="2578608"/>
            <a:ext cx="154899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Payback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10896" y="2578608"/>
            <a:ext cx="2596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D485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11–12 мес.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10896" y="2852928"/>
            <a:ext cx="2596896" cy="0"/>
          </a:xfrm>
          <a:prstGeom prst="line">
            <a:avLst/>
          </a:prstGeom>
          <a:noFill/>
          <a:ln w="10160">
            <a:solidFill>
              <a:srgbClr val="D6E0E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10896" y="2907792"/>
            <a:ext cx="154899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ROI 24 мес.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10896" y="2907792"/>
            <a:ext cx="2596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D485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3.4×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10896" y="3182112"/>
            <a:ext cx="2596896" cy="0"/>
          </a:xfrm>
          <a:prstGeom prst="line">
            <a:avLst/>
          </a:prstGeom>
          <a:noFill/>
          <a:ln w="10160">
            <a:solidFill>
              <a:srgbClr val="D6E0E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10896" y="3236976"/>
            <a:ext cx="154899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Риск модели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10896" y="3236976"/>
            <a:ext cx="2596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0F22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Средний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10896" y="3511296"/>
            <a:ext cx="2596896" cy="0"/>
          </a:xfrm>
          <a:prstGeom prst="line">
            <a:avLst/>
          </a:prstGeom>
          <a:noFill/>
          <a:ln w="10160">
            <a:solidFill>
              <a:srgbClr val="D6E0E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10896" y="3566160"/>
            <a:ext cx="154899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Операц. риск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10896" y="3566160"/>
            <a:ext cx="2596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0F22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Высокий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10896" y="4462272"/>
            <a:ext cx="2596896" cy="256032"/>
          </a:xfrm>
          <a:prstGeom prst="roundRect">
            <a:avLst>
              <a:gd name="adj" fmla="val 21429"/>
            </a:avLst>
          </a:prstGeom>
          <a:solidFill>
            <a:srgbClr val="D4850A"/>
          </a:solidFill>
          <a:ln w="12700">
            <a:solidFill>
              <a:srgbClr val="D4850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10896" y="4462272"/>
            <a:ext cx="2596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Возможно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200400" y="768096"/>
            <a:ext cx="2816352" cy="4041648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3200400" y="768096"/>
            <a:ext cx="2816352" cy="34747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310128" y="768096"/>
            <a:ext cx="2596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Сценарий B: Отложить 2–3 мес.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3310128" y="1170432"/>
            <a:ext cx="2596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Подготовить инфру и провести</a:t>
            </a:r>
            <a:endParaRPr lang="en-US" sz="900" dirty="0"/>
          </a:p>
          <a:p>
            <a:pPr algn="l" indent="0" marL="0">
              <a:buNone/>
            </a:pPr>
            <a:r>
              <a:rPr lang="en-US" sz="900" i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цикла переобучения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3310128" y="1591056"/>
            <a:ext cx="154899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Бюджет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3310128" y="1591056"/>
            <a:ext cx="2596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0F22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340 млн ₽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3310128" y="1865376"/>
            <a:ext cx="2596896" cy="0"/>
          </a:xfrm>
          <a:prstGeom prst="line">
            <a:avLst/>
          </a:prstGeom>
          <a:noFill/>
          <a:ln w="10160">
            <a:solidFill>
              <a:srgbClr val="D6E0E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310128" y="1920240"/>
            <a:ext cx="154899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Доп. выручка год 1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3310128" y="1920240"/>
            <a:ext cx="2596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0F22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460–490 млн ₽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3310128" y="2194560"/>
            <a:ext cx="2596896" cy="0"/>
          </a:xfrm>
          <a:prstGeom prst="line">
            <a:avLst/>
          </a:prstGeom>
          <a:noFill/>
          <a:ln w="10160">
            <a:solidFill>
              <a:srgbClr val="D6E0E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310128" y="2249424"/>
            <a:ext cx="154899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Доп. выручка год 2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3310128" y="2249424"/>
            <a:ext cx="2596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0F22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850–900 млн ₽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3310128" y="2523744"/>
            <a:ext cx="2596896" cy="0"/>
          </a:xfrm>
          <a:prstGeom prst="line">
            <a:avLst/>
          </a:prstGeom>
          <a:noFill/>
          <a:ln w="10160">
            <a:solidFill>
              <a:srgbClr val="D6E0E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310128" y="2578608"/>
            <a:ext cx="154899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Payback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3310128" y="2578608"/>
            <a:ext cx="2596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A6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10–11 мес.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3310128" y="2852928"/>
            <a:ext cx="2596896" cy="0"/>
          </a:xfrm>
          <a:prstGeom prst="line">
            <a:avLst/>
          </a:prstGeom>
          <a:noFill/>
          <a:ln w="10160">
            <a:solidFill>
              <a:srgbClr val="D6E0E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310128" y="2907792"/>
            <a:ext cx="154899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ROI 24 мес.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3310128" y="2907792"/>
            <a:ext cx="2596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A6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3.6×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3310128" y="3182112"/>
            <a:ext cx="2596896" cy="0"/>
          </a:xfrm>
          <a:prstGeom prst="line">
            <a:avLst/>
          </a:prstGeom>
          <a:noFill/>
          <a:ln w="10160">
            <a:solidFill>
              <a:srgbClr val="D6E0E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310128" y="3236976"/>
            <a:ext cx="154899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Риск модели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3310128" y="3236976"/>
            <a:ext cx="2596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0F22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Низкий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3310128" y="3511296"/>
            <a:ext cx="2596896" cy="0"/>
          </a:xfrm>
          <a:prstGeom prst="line">
            <a:avLst/>
          </a:prstGeom>
          <a:noFill/>
          <a:ln w="10160">
            <a:solidFill>
              <a:srgbClr val="D6E0E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310128" y="3566160"/>
            <a:ext cx="154899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Операц. риск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3310128" y="3566160"/>
            <a:ext cx="2596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0F22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Умеренный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3310128" y="4462272"/>
            <a:ext cx="2596896" cy="256032"/>
          </a:xfrm>
          <a:prstGeom prst="roundRect">
            <a:avLst>
              <a:gd name="adj" fmla="val 21429"/>
            </a:avLst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310128" y="4462272"/>
            <a:ext cx="2596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Оптимально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6199632" y="768096"/>
            <a:ext cx="2816352" cy="4041648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1" name="Shape 59"/>
          <p:cNvSpPr/>
          <p:nvPr/>
        </p:nvSpPr>
        <p:spPr>
          <a:xfrm>
            <a:off x="6199632" y="768096"/>
            <a:ext cx="2816352" cy="3474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309360" y="768096"/>
            <a:ext cx="2596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Сценарий C: Запуск без ретрейна</a:t>
            </a:r>
            <a:endParaRPr lang="en-US" sz="1050" dirty="0"/>
          </a:p>
        </p:txBody>
      </p:sp>
      <p:sp>
        <p:nvSpPr>
          <p:cNvPr id="63" name="Text 61"/>
          <p:cNvSpPr/>
          <p:nvPr/>
        </p:nvSpPr>
        <p:spPr>
          <a:xfrm>
            <a:off x="6309360" y="1170432"/>
            <a:ext cx="2596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Масштабировать немедленно</a:t>
            </a:r>
            <a:endParaRPr lang="en-US" sz="900" dirty="0"/>
          </a:p>
          <a:p>
            <a:pPr algn="l" indent="0" marL="0">
              <a:buNone/>
            </a:pPr>
            <a:r>
              <a:rPr lang="en-US" sz="900" i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 текущей моделью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6309360" y="1591056"/>
            <a:ext cx="154899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Бюджет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6309360" y="1591056"/>
            <a:ext cx="2596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0F22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238 млн ₽ (−30%)</a:t>
            </a:r>
            <a:endParaRPr lang="en-US" sz="950" dirty="0"/>
          </a:p>
        </p:txBody>
      </p:sp>
      <p:sp>
        <p:nvSpPr>
          <p:cNvPr id="66" name="Shape 64"/>
          <p:cNvSpPr/>
          <p:nvPr/>
        </p:nvSpPr>
        <p:spPr>
          <a:xfrm>
            <a:off x="6309360" y="1865376"/>
            <a:ext cx="2596896" cy="0"/>
          </a:xfrm>
          <a:prstGeom prst="line">
            <a:avLst/>
          </a:prstGeom>
          <a:noFill/>
          <a:ln w="10160">
            <a:solidFill>
              <a:srgbClr val="D6E0EA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309360" y="1920240"/>
            <a:ext cx="154899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Доп. выручка год 1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6309360" y="1920240"/>
            <a:ext cx="2596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0F22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215–240 млн ₽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6309360" y="2194560"/>
            <a:ext cx="2596896" cy="0"/>
          </a:xfrm>
          <a:prstGeom prst="line">
            <a:avLst/>
          </a:prstGeom>
          <a:noFill/>
          <a:ln w="10160">
            <a:solidFill>
              <a:srgbClr val="D6E0EA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309360" y="2249424"/>
            <a:ext cx="154899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Доп. выручка год 2</a:t>
            </a:r>
            <a:endParaRPr lang="en-US" sz="900" dirty="0"/>
          </a:p>
        </p:txBody>
      </p:sp>
      <p:sp>
        <p:nvSpPr>
          <p:cNvPr id="71" name="Text 69"/>
          <p:cNvSpPr/>
          <p:nvPr/>
        </p:nvSpPr>
        <p:spPr>
          <a:xfrm>
            <a:off x="6309360" y="2249424"/>
            <a:ext cx="2596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0F22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380–420 млн ₽</a:t>
            </a:r>
            <a:endParaRPr lang="en-US" sz="950" dirty="0"/>
          </a:p>
        </p:txBody>
      </p:sp>
      <p:sp>
        <p:nvSpPr>
          <p:cNvPr id="72" name="Shape 70"/>
          <p:cNvSpPr/>
          <p:nvPr/>
        </p:nvSpPr>
        <p:spPr>
          <a:xfrm>
            <a:off x="6309360" y="2523744"/>
            <a:ext cx="2596896" cy="0"/>
          </a:xfrm>
          <a:prstGeom prst="line">
            <a:avLst/>
          </a:prstGeom>
          <a:noFill/>
          <a:ln w="10160">
            <a:solidFill>
              <a:srgbClr val="D6E0EA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6309360" y="2578608"/>
            <a:ext cx="154899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Payback</a:t>
            </a:r>
            <a:endParaRPr lang="en-US" sz="900" dirty="0"/>
          </a:p>
        </p:txBody>
      </p:sp>
      <p:sp>
        <p:nvSpPr>
          <p:cNvPr id="74" name="Text 72"/>
          <p:cNvSpPr/>
          <p:nvPr/>
        </p:nvSpPr>
        <p:spPr>
          <a:xfrm>
            <a:off x="6309360" y="2578608"/>
            <a:ext cx="2596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19–22 мес.</a:t>
            </a:r>
            <a:endParaRPr lang="en-US" sz="950" dirty="0"/>
          </a:p>
        </p:txBody>
      </p:sp>
      <p:sp>
        <p:nvSpPr>
          <p:cNvPr id="75" name="Shape 73"/>
          <p:cNvSpPr/>
          <p:nvPr/>
        </p:nvSpPr>
        <p:spPr>
          <a:xfrm>
            <a:off x="6309360" y="2852928"/>
            <a:ext cx="2596896" cy="0"/>
          </a:xfrm>
          <a:prstGeom prst="line">
            <a:avLst/>
          </a:prstGeom>
          <a:noFill/>
          <a:ln w="10160">
            <a:solidFill>
              <a:srgbClr val="D6E0EA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6309360" y="2907792"/>
            <a:ext cx="154899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ROI 24 мес.</a:t>
            </a:r>
            <a:endParaRPr lang="en-US" sz="900" dirty="0"/>
          </a:p>
        </p:txBody>
      </p:sp>
      <p:sp>
        <p:nvSpPr>
          <p:cNvPr id="77" name="Text 75"/>
          <p:cNvSpPr/>
          <p:nvPr/>
        </p:nvSpPr>
        <p:spPr>
          <a:xfrm>
            <a:off x="6309360" y="2907792"/>
            <a:ext cx="2596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1.9×</a:t>
            </a:r>
            <a:endParaRPr lang="en-US" sz="950" dirty="0"/>
          </a:p>
        </p:txBody>
      </p:sp>
      <p:sp>
        <p:nvSpPr>
          <p:cNvPr id="78" name="Shape 76"/>
          <p:cNvSpPr/>
          <p:nvPr/>
        </p:nvSpPr>
        <p:spPr>
          <a:xfrm>
            <a:off x="6309360" y="3182112"/>
            <a:ext cx="2596896" cy="0"/>
          </a:xfrm>
          <a:prstGeom prst="line">
            <a:avLst/>
          </a:prstGeom>
          <a:noFill/>
          <a:ln w="10160">
            <a:solidFill>
              <a:srgbClr val="D6E0EA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6309360" y="3236976"/>
            <a:ext cx="154899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Риск модели</a:t>
            </a:r>
            <a:endParaRPr lang="en-US" sz="900" dirty="0"/>
          </a:p>
        </p:txBody>
      </p:sp>
      <p:sp>
        <p:nvSpPr>
          <p:cNvPr id="80" name="Text 78"/>
          <p:cNvSpPr/>
          <p:nvPr/>
        </p:nvSpPr>
        <p:spPr>
          <a:xfrm>
            <a:off x="6309360" y="3236976"/>
            <a:ext cx="2596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Критический</a:t>
            </a:r>
            <a:endParaRPr lang="en-US" sz="950" dirty="0"/>
          </a:p>
        </p:txBody>
      </p:sp>
      <p:sp>
        <p:nvSpPr>
          <p:cNvPr id="81" name="Shape 79"/>
          <p:cNvSpPr/>
          <p:nvPr/>
        </p:nvSpPr>
        <p:spPr>
          <a:xfrm>
            <a:off x="6309360" y="3511296"/>
            <a:ext cx="2596896" cy="0"/>
          </a:xfrm>
          <a:prstGeom prst="line">
            <a:avLst/>
          </a:prstGeom>
          <a:noFill/>
          <a:ln w="10160">
            <a:solidFill>
              <a:srgbClr val="D6E0EA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6309360" y="3566160"/>
            <a:ext cx="154899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Операц. риск</a:t>
            </a:r>
            <a:endParaRPr lang="en-US" sz="900" dirty="0"/>
          </a:p>
        </p:txBody>
      </p:sp>
      <p:sp>
        <p:nvSpPr>
          <p:cNvPr id="83" name="Text 81"/>
          <p:cNvSpPr/>
          <p:nvPr/>
        </p:nvSpPr>
        <p:spPr>
          <a:xfrm>
            <a:off x="6309360" y="3566160"/>
            <a:ext cx="2596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Критический</a:t>
            </a:r>
            <a:endParaRPr lang="en-US" sz="950" dirty="0"/>
          </a:p>
        </p:txBody>
      </p:sp>
      <p:sp>
        <p:nvSpPr>
          <p:cNvPr id="84" name="Shape 82"/>
          <p:cNvSpPr/>
          <p:nvPr/>
        </p:nvSpPr>
        <p:spPr>
          <a:xfrm>
            <a:off x="6309360" y="4462272"/>
            <a:ext cx="2596896" cy="256032"/>
          </a:xfrm>
          <a:prstGeom prst="roundRect">
            <a:avLst>
              <a:gd name="adj" fmla="val 21429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6309360" y="4462272"/>
            <a:ext cx="2596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Не рекомендовано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E8873A"/>
          </a:solidFill>
          <a:ln w="12700">
            <a:solidFill>
              <a:srgbClr val="E887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E7BC4"/>
          </a:solidFill>
          <a:ln w="12700">
            <a:solidFill>
              <a:srgbClr val="2E7B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01168" y="54864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300" kern="0" dirty="0">
                <a:solidFill>
                  <a:srgbClr val="2E7B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УПРАВЛЕНЧЕСКИЙ КОНТЕКСТ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01168" y="164592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Позиции ключевых ролей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01168" y="786384"/>
            <a:ext cx="4315968" cy="1298448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01168" y="786384"/>
            <a:ext cx="347472" cy="1298448"/>
          </a:xfrm>
          <a:prstGeom prst="rect">
            <a:avLst/>
          </a:prstGeom>
          <a:solidFill>
            <a:srgbClr val="D4850A"/>
          </a:solidFill>
          <a:ln w="12700">
            <a:solidFill>
              <a:srgbClr val="D4850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84124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485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CEO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58368" y="109728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F22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немедленный запуск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58368" y="1335024"/>
            <a:ext cx="3730752" cy="0"/>
          </a:xfrm>
          <a:prstGeom prst="line">
            <a:avLst/>
          </a:prstGeom>
          <a:noFill/>
          <a:ln w="10160">
            <a:solidFill>
              <a:srgbClr val="D6E0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1389888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F22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Рыночное окно 6–9 месяцев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658368" y="1572768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F22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Конкурент A уже работает федерально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658368" y="1755648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F22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Готов вынести на совет директоров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01168" y="2249424"/>
            <a:ext cx="4315968" cy="1298448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01168" y="2249424"/>
            <a:ext cx="347472" cy="129844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" y="230428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CFO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58368" y="256032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F22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Блокирует без гарантий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58368" y="2798064"/>
            <a:ext cx="3730752" cy="0"/>
          </a:xfrm>
          <a:prstGeom prst="line">
            <a:avLst/>
          </a:prstGeom>
          <a:noFill/>
          <a:ln w="10160">
            <a:solidFill>
              <a:srgbClr val="D6E0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8368" y="2852928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F22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CAPEX −30% как опция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658368" y="3035808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F22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Нужен payback ≤ 12–18 мес.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658368" y="3218688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F22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Требует прозрачной экономики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201168" y="3712464"/>
            <a:ext cx="4315968" cy="1298448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01168" y="3712464"/>
            <a:ext cx="347472" cy="1298448"/>
          </a:xfrm>
          <a:prstGeom prst="rect">
            <a:avLst/>
          </a:prstGeom>
          <a:solidFill>
            <a:srgbClr val="D4850A"/>
          </a:solidFill>
          <a:ln w="12700">
            <a:solidFill>
              <a:srgbClr val="D4850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8368" y="376732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485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58368" y="402336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F22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Против сейчас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58368" y="4261104"/>
            <a:ext cx="3730752" cy="0"/>
          </a:xfrm>
          <a:prstGeom prst="line">
            <a:avLst/>
          </a:prstGeom>
          <a:noFill/>
          <a:ln w="10160">
            <a:solidFill>
              <a:srgbClr val="D6E0E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8368" y="4315968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F22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SLA уже ниже нормы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58368" y="4498848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F22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РЦ загружены на 83%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658368" y="4681728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F22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При +20% заказов — коллапс поставок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773168" y="786384"/>
            <a:ext cx="4315968" cy="1298448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773168" y="786384"/>
            <a:ext cx="347472" cy="129844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230368" y="84124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ML-команда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230368" y="109728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F22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Против без ретрейна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5230368" y="1335024"/>
            <a:ext cx="3730752" cy="0"/>
          </a:xfrm>
          <a:prstGeom prst="line">
            <a:avLst/>
          </a:prstGeom>
          <a:noFill/>
          <a:ln w="10160">
            <a:solidFill>
              <a:srgbClr val="D6E0E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230368" y="1389888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F22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Precision@10 ниже порога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5230368" y="1572768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F22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Без переобучения +40% ошибок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5230368" y="1755648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F22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Data freshness 18 ч вместо 4 ч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4773168" y="2249424"/>
            <a:ext cx="4315968" cy="1298448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773168" y="2249424"/>
            <a:ext cx="347472" cy="1298448"/>
          </a:xfrm>
          <a:prstGeom prst="rect">
            <a:avLst/>
          </a:prstGeom>
          <a:solidFill>
            <a:srgbClr val="1D5FA6"/>
          </a:solidFill>
          <a:ln w="12700">
            <a:solidFill>
              <a:srgbClr val="1D5FA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230368" y="230428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D5F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Инвесторы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230368" y="256032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F22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Давят на рост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5230368" y="2798064"/>
            <a:ext cx="3730752" cy="0"/>
          </a:xfrm>
          <a:prstGeom prst="line">
            <a:avLst/>
          </a:prstGeom>
          <a:noFill/>
          <a:ln w="10160">
            <a:solidFill>
              <a:srgbClr val="D6E0E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230368" y="2852928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F22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Ожидают рост цифровой выручки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5230368" y="3035808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F22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Смотрят на конкурента A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5230368" y="3218688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F22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Горизонт: капитализация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201168" y="4174236"/>
            <a:ext cx="8741664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201168" y="4174236"/>
            <a:ext cx="8741664" cy="73152"/>
          </a:xfrm>
          <a:prstGeom prst="rect">
            <a:avLst/>
          </a:prstGeom>
          <a:solidFill>
            <a:srgbClr val="1D5FA6"/>
          </a:solidFill>
          <a:ln w="12700">
            <a:solidFill>
              <a:srgbClr val="1D5FA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29184" y="4283964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D5F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CAITO: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969264" y="4283964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F22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находится между этими позициями. Задача — удержать системные ограничения и принять решение, которое одновременно технологически устойчиво, экономически обосновано и управленчески реализуемо.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2236"/>
          </a:solidFill>
          <a:ln w="12700">
            <a:solidFill>
              <a:srgbClr val="0F223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1D5FA6"/>
          </a:solidFill>
          <a:ln w="12700">
            <a:solidFill>
              <a:srgbClr val="1D5F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9184" y="219456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300" kern="0" dirty="0">
                <a:solidFill>
                  <a:srgbClr val="1D5F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ПОЗИЦИЯ CAITO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329184" y="493776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Рекомендация: отложить на 2–3 месяца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9184" y="1152144"/>
            <a:ext cx="2029968" cy="2304288"/>
          </a:xfrm>
          <a:prstGeom prst="rect">
            <a:avLst/>
          </a:prstGeom>
          <a:solidFill>
            <a:srgbClr val="1B3A5C"/>
          </a:solidFill>
          <a:ln w="6350">
            <a:solidFill>
              <a:srgbClr val="D6E0E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9184" y="1152144"/>
            <a:ext cx="2029968" cy="914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0624" y="1243584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20624" y="164592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Модель за порогом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20624" y="2011680"/>
            <a:ext cx="1828800" cy="0"/>
          </a:xfrm>
          <a:prstGeom prst="line">
            <a:avLst/>
          </a:prstGeom>
          <a:noFill/>
          <a:ln w="10160">
            <a:solidFill>
              <a:srgbClr val="D6E0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0624" y="2084832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D6E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Precision@10 = 0.341 при пороге 0.350. Масштабирование без ретрейна даст +40% ошибок и убьёт UX.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523744" y="1152144"/>
            <a:ext cx="2029968" cy="2304288"/>
          </a:xfrm>
          <a:prstGeom prst="rect">
            <a:avLst/>
          </a:prstGeom>
          <a:solidFill>
            <a:srgbClr val="1B3A5C"/>
          </a:solidFill>
          <a:ln w="6350">
            <a:solidFill>
              <a:srgbClr val="D6E0E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523744" y="1152144"/>
            <a:ext cx="2029968" cy="91440"/>
          </a:xfrm>
          <a:prstGeom prst="rect">
            <a:avLst/>
          </a:prstGeom>
          <a:solidFill>
            <a:srgbClr val="D4850A"/>
          </a:solidFill>
          <a:ln w="12700">
            <a:solidFill>
              <a:srgbClr val="D4850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15184" y="1243584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D485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2615184" y="164592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Инфраструктура не готова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615184" y="2011680"/>
            <a:ext cx="1828800" cy="0"/>
          </a:xfrm>
          <a:prstGeom prst="line">
            <a:avLst/>
          </a:prstGeom>
          <a:noFill/>
          <a:ln w="10160">
            <a:solidFill>
              <a:srgbClr val="D6E0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615184" y="2084832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D6E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 ×3 охвата серверная нагрузка &gt;100%. Система упадёт в первый же пиковый день.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718304" y="1152144"/>
            <a:ext cx="2029968" cy="2304288"/>
          </a:xfrm>
          <a:prstGeom prst="rect">
            <a:avLst/>
          </a:prstGeom>
          <a:solidFill>
            <a:srgbClr val="1B3A5C"/>
          </a:solidFill>
          <a:ln w="6350">
            <a:solidFill>
              <a:srgbClr val="D6E0E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18304" y="1152144"/>
            <a:ext cx="2029968" cy="914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09744" y="1243584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4809744" y="164592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Операционные потери &gt; дохода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809744" y="2011680"/>
            <a:ext cx="1828800" cy="0"/>
          </a:xfrm>
          <a:prstGeom prst="line">
            <a:avLst/>
          </a:prstGeom>
          <a:noFill/>
          <a:ln w="10160">
            <a:solidFill>
              <a:srgbClr val="D6E0E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09744" y="2084832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D6E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 +20% заказов потери ~1.5 млрд ₽/год. Доп. выручка от AI — 480 млн ₽. Минус 1 млрд.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912864" y="1152144"/>
            <a:ext cx="2029968" cy="2304288"/>
          </a:xfrm>
          <a:prstGeom prst="rect">
            <a:avLst/>
          </a:prstGeom>
          <a:solidFill>
            <a:srgbClr val="1B3A5C"/>
          </a:solidFill>
          <a:ln w="6350">
            <a:solidFill>
              <a:srgbClr val="D6E0E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912864" y="1152144"/>
            <a:ext cx="2029968" cy="91440"/>
          </a:xfrm>
          <a:prstGeom prst="rect">
            <a:avLst/>
          </a:prstGeom>
          <a:solidFill>
            <a:srgbClr val="D4850A"/>
          </a:solidFill>
          <a:ln w="12700">
            <a:solidFill>
              <a:srgbClr val="D4850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004304" y="1243584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D485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7004304" y="164592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Регуляторный хвост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7004304" y="2011680"/>
            <a:ext cx="1828800" cy="0"/>
          </a:xfrm>
          <a:prstGeom prst="line">
            <a:avLst/>
          </a:prstGeom>
          <a:noFill/>
          <a:ln w="10160">
            <a:solidFill>
              <a:srgbClr val="D6E0E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004304" y="2084832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D6E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DPO-документация не готова. Нужно 4–6 недель. Это не блокер, но должно быть в плане.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29184" y="3621024"/>
            <a:ext cx="8485632" cy="1188720"/>
          </a:xfrm>
          <a:prstGeom prst="rect">
            <a:avLst/>
          </a:prstGeom>
          <a:solidFill>
            <a:srgbClr val="1B3A5C"/>
          </a:solidFill>
          <a:ln w="6350">
            <a:solidFill>
              <a:srgbClr val="D6E0E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29184" y="3621024"/>
            <a:ext cx="219456" cy="1188720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58368" y="3621024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6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делать за 2–3 месяца: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58368" y="39319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D6E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Провести 2 цикла переобучения модели (8–10 нед.)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58368" y="4261104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D6E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Расширить inference-инфраструктуру ×2.5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901184" y="39319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D6E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Оптимизировать data pipeline (freshness &lt; 4 ч)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901184" y="4261104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D6E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Закрыть регуляторный хвост по 152-ФЗ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E8873A"/>
          </a:solidFill>
          <a:ln w="12700">
            <a:solidFill>
              <a:srgbClr val="E887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01168" y="54864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300" kern="0" dirty="0">
                <a:solidFill>
                  <a:srgbClr val="1A6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ДАЛЬНЕЙШИЕ ШАГИ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01168" y="16459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План на 14 дней → запуск через 2–3 месяца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01168" y="768096"/>
            <a:ext cx="2066544" cy="4041648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01168" y="768096"/>
            <a:ext cx="2066544" cy="347472"/>
          </a:xfrm>
          <a:prstGeom prst="rect">
            <a:avLst/>
          </a:prstGeom>
          <a:solidFill>
            <a:srgbClr val="1D5FA6"/>
          </a:solidFill>
          <a:ln w="12700">
            <a:solidFill>
              <a:srgbClr val="1D5F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2608" y="768096"/>
            <a:ext cx="18836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Неделя 1–2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292608" y="932688"/>
            <a:ext cx="18836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Решение и старт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92608" y="1280160"/>
            <a:ext cx="146304" cy="146304"/>
          </a:xfrm>
          <a:prstGeom prst="ellipse">
            <a:avLst/>
          </a:prstGeom>
          <a:solidFill>
            <a:srgbClr val="1D5FA6"/>
          </a:solidFill>
          <a:ln w="12700">
            <a:solidFill>
              <a:srgbClr val="1D5FA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2064" y="1243584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0F22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Утвердить сценарий B на совете директоров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92608" y="1847088"/>
            <a:ext cx="1883664" cy="0"/>
          </a:xfrm>
          <a:prstGeom prst="line">
            <a:avLst/>
          </a:prstGeom>
          <a:noFill/>
          <a:ln w="10160">
            <a:solidFill>
              <a:srgbClr val="D6E0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92608" y="1956816"/>
            <a:ext cx="146304" cy="146304"/>
          </a:xfrm>
          <a:prstGeom prst="ellipse">
            <a:avLst/>
          </a:prstGeom>
          <a:solidFill>
            <a:srgbClr val="1D5FA6"/>
          </a:solidFill>
          <a:ln w="12700">
            <a:solidFill>
              <a:srgbClr val="1D5FA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2064" y="192024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0F22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Зафиксировать бюджет 340 млн ₽ (не резать CAPEX)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92608" y="2523744"/>
            <a:ext cx="1883664" cy="0"/>
          </a:xfrm>
          <a:prstGeom prst="line">
            <a:avLst/>
          </a:prstGeom>
          <a:noFill/>
          <a:ln w="10160">
            <a:solidFill>
              <a:srgbClr val="D6E0E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92608" y="2633472"/>
            <a:ext cx="146304" cy="146304"/>
          </a:xfrm>
          <a:prstGeom prst="ellipse">
            <a:avLst/>
          </a:prstGeom>
          <a:solidFill>
            <a:srgbClr val="1D5FA6"/>
          </a:solidFill>
          <a:ln w="12700">
            <a:solidFill>
              <a:srgbClr val="1D5FA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2064" y="2596896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0F22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Стартовать первый цикл переобучения модели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92608" y="3200400"/>
            <a:ext cx="1883664" cy="0"/>
          </a:xfrm>
          <a:prstGeom prst="line">
            <a:avLst/>
          </a:prstGeom>
          <a:noFill/>
          <a:ln w="10160">
            <a:solidFill>
              <a:srgbClr val="D6E0E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92608" y="3310128"/>
            <a:ext cx="146304" cy="146304"/>
          </a:xfrm>
          <a:prstGeom prst="ellipse">
            <a:avLst/>
          </a:prstGeom>
          <a:solidFill>
            <a:srgbClr val="1D5FA6"/>
          </a:solidFill>
          <a:ln w="12700">
            <a:solidFill>
              <a:srgbClr val="1D5FA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2064" y="3273552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0F22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Запустить закупку inference-серверов (долгий цикл!)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432304" y="768096"/>
            <a:ext cx="2066544" cy="4041648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432304" y="768096"/>
            <a:ext cx="2066544" cy="347472"/>
          </a:xfrm>
          <a:prstGeom prst="rect">
            <a:avLst/>
          </a:prstGeom>
          <a:solidFill>
            <a:srgbClr val="D4850A"/>
          </a:solidFill>
          <a:ln w="12700">
            <a:solidFill>
              <a:srgbClr val="D4850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523744" y="768096"/>
            <a:ext cx="18836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Неделя 3–6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2523744" y="932688"/>
            <a:ext cx="18836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Техническая подготовка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523744" y="1280160"/>
            <a:ext cx="146304" cy="146304"/>
          </a:xfrm>
          <a:prstGeom prst="ellipse">
            <a:avLst/>
          </a:prstGeom>
          <a:solidFill>
            <a:srgbClr val="D4850A"/>
          </a:solidFill>
          <a:ln w="12700">
            <a:solidFill>
              <a:srgbClr val="D4850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43200" y="1243584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0F22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Завершить первый ретрейн + A/B валидация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523744" y="1847088"/>
            <a:ext cx="1883664" cy="0"/>
          </a:xfrm>
          <a:prstGeom prst="line">
            <a:avLst/>
          </a:prstGeom>
          <a:noFill/>
          <a:ln w="10160">
            <a:solidFill>
              <a:srgbClr val="D6E0E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523744" y="1956816"/>
            <a:ext cx="146304" cy="146304"/>
          </a:xfrm>
          <a:prstGeom prst="ellipse">
            <a:avLst/>
          </a:prstGeom>
          <a:solidFill>
            <a:srgbClr val="D4850A"/>
          </a:solidFill>
          <a:ln w="12700">
            <a:solidFill>
              <a:srgbClr val="D4850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0" y="192024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0F22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Рефакторинг data pipeline → freshness &lt; 4 ч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523744" y="2523744"/>
            <a:ext cx="1883664" cy="0"/>
          </a:xfrm>
          <a:prstGeom prst="line">
            <a:avLst/>
          </a:prstGeom>
          <a:noFill/>
          <a:ln w="10160">
            <a:solidFill>
              <a:srgbClr val="D6E0E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523744" y="2633472"/>
            <a:ext cx="146304" cy="146304"/>
          </a:xfrm>
          <a:prstGeom prst="ellipse">
            <a:avLst/>
          </a:prstGeom>
          <a:solidFill>
            <a:srgbClr val="D4850A"/>
          </a:solidFill>
          <a:ln w="12700">
            <a:solidFill>
              <a:srgbClr val="D4850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743200" y="2596896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0F22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Закрыть DPO-документацию (152-ФЗ)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523744" y="3200400"/>
            <a:ext cx="1883664" cy="0"/>
          </a:xfrm>
          <a:prstGeom prst="line">
            <a:avLst/>
          </a:prstGeom>
          <a:noFill/>
          <a:ln w="10160">
            <a:solidFill>
              <a:srgbClr val="D6E0E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523744" y="3310128"/>
            <a:ext cx="146304" cy="146304"/>
          </a:xfrm>
          <a:prstGeom prst="ellipse">
            <a:avLst/>
          </a:prstGeom>
          <a:solidFill>
            <a:srgbClr val="D4850A"/>
          </a:solidFill>
          <a:ln w="12700">
            <a:solidFill>
              <a:srgbClr val="D4850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743200" y="3273552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0F22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Нагрузочное тестирование инфраструктуры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663440" y="768096"/>
            <a:ext cx="2066544" cy="4041648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663440" y="768096"/>
            <a:ext cx="2066544" cy="34747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54880" y="768096"/>
            <a:ext cx="18836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Неделя 7–10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754880" y="932688"/>
            <a:ext cx="18836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Расширенный пилот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754880" y="1280160"/>
            <a:ext cx="146304" cy="146304"/>
          </a:xfrm>
          <a:prstGeom prst="ellipse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974336" y="1243584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0F22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Второй цикл ретрейна на расширенных данных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754880" y="1847088"/>
            <a:ext cx="1883664" cy="0"/>
          </a:xfrm>
          <a:prstGeom prst="line">
            <a:avLst/>
          </a:prstGeom>
          <a:noFill/>
          <a:ln w="10160">
            <a:solidFill>
              <a:srgbClr val="D6E0EA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754880" y="1956816"/>
            <a:ext cx="146304" cy="146304"/>
          </a:xfrm>
          <a:prstGeom prst="ellipse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974336" y="192024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0F22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Расширить охват персонализацией с 38% до 70%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754880" y="2523744"/>
            <a:ext cx="1883664" cy="0"/>
          </a:xfrm>
          <a:prstGeom prst="line">
            <a:avLst/>
          </a:prstGeom>
          <a:noFill/>
          <a:ln w="10160">
            <a:solidFill>
              <a:srgbClr val="D6E0EA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754880" y="2633472"/>
            <a:ext cx="146304" cy="146304"/>
          </a:xfrm>
          <a:prstGeom prst="ellipse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974336" y="2596896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0F22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Мониторинг SLA и OOS в реальном времени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754880" y="3200400"/>
            <a:ext cx="1883664" cy="0"/>
          </a:xfrm>
          <a:prstGeom prst="line">
            <a:avLst/>
          </a:prstGeom>
          <a:noFill/>
          <a:ln w="10160">
            <a:solidFill>
              <a:srgbClr val="D6E0EA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0" y="3310128"/>
            <a:ext cx="146304" cy="146304"/>
          </a:xfrm>
          <a:prstGeom prst="ellipse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974336" y="3273552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0F22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Принятие решения о полном масштабировании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6894576" y="768096"/>
            <a:ext cx="2066544" cy="4041648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6894576" y="768096"/>
            <a:ext cx="2066544" cy="347472"/>
          </a:xfrm>
          <a:prstGeom prst="rect">
            <a:avLst/>
          </a:prstGeom>
          <a:solidFill>
            <a:srgbClr val="2E7BC4"/>
          </a:solidFill>
          <a:ln w="12700">
            <a:solidFill>
              <a:srgbClr val="2E7BC4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986016" y="768096"/>
            <a:ext cx="18836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Неделя 11–14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6986016" y="932688"/>
            <a:ext cx="18836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Федеральный запуск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6986016" y="1280160"/>
            <a:ext cx="146304" cy="146304"/>
          </a:xfrm>
          <a:prstGeom prst="ellipse">
            <a:avLst/>
          </a:prstGeom>
          <a:solidFill>
            <a:srgbClr val="2E7BC4"/>
          </a:solidFill>
          <a:ln w="12700">
            <a:solidFill>
              <a:srgbClr val="2E7BC4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205472" y="1243584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0F22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Полное масштабирование при Precision@10 ≥ 0.380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6986016" y="1847088"/>
            <a:ext cx="1883664" cy="0"/>
          </a:xfrm>
          <a:prstGeom prst="line">
            <a:avLst/>
          </a:prstGeom>
          <a:noFill/>
          <a:ln w="10160">
            <a:solidFill>
              <a:srgbClr val="D6E0EA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6986016" y="1956816"/>
            <a:ext cx="146304" cy="146304"/>
          </a:xfrm>
          <a:prstGeom prst="ellipse">
            <a:avLst/>
          </a:prstGeom>
          <a:solidFill>
            <a:srgbClr val="2E7BC4"/>
          </a:solidFill>
          <a:ln w="12700">
            <a:solidFill>
              <a:srgbClr val="2E7BC4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205472" y="192024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0F22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Операционный KPI-контроль еженедельно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6986016" y="2523744"/>
            <a:ext cx="1883664" cy="0"/>
          </a:xfrm>
          <a:prstGeom prst="line">
            <a:avLst/>
          </a:prstGeom>
          <a:noFill/>
          <a:ln w="10160">
            <a:solidFill>
              <a:srgbClr val="D6E0EA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6986016" y="2633472"/>
            <a:ext cx="146304" cy="146304"/>
          </a:xfrm>
          <a:prstGeom prst="ellipse">
            <a:avLst/>
          </a:prstGeom>
          <a:solidFill>
            <a:srgbClr val="2E7BC4"/>
          </a:solidFill>
          <a:ln w="12700">
            <a:solidFill>
              <a:srgbClr val="2E7BC4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205472" y="2596896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0F22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Регулярные циклы переобучения (раз в 2–3 нед.)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6986016" y="3200400"/>
            <a:ext cx="1883664" cy="0"/>
          </a:xfrm>
          <a:prstGeom prst="line">
            <a:avLst/>
          </a:prstGeom>
          <a:noFill/>
          <a:ln w="10160">
            <a:solidFill>
              <a:srgbClr val="D6E0EA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6986016" y="3310128"/>
            <a:ext cx="146304" cy="146304"/>
          </a:xfrm>
          <a:prstGeom prst="ellipse">
            <a:avLst/>
          </a:prstGeom>
          <a:solidFill>
            <a:srgbClr val="2E7BC4"/>
          </a:solidFill>
          <a:ln w="12700">
            <a:solidFill>
              <a:srgbClr val="2E7BC4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7205472" y="3273552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0F22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Отчёт совету директоров: ROI и метрики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2236"/>
          </a:solidFill>
          <a:ln w="12700">
            <a:solidFill>
              <a:srgbClr val="0F223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E8873A"/>
          </a:solidFill>
          <a:ln w="12700">
            <a:solidFill>
              <a:srgbClr val="E887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9184" y="18288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300" kern="0" dirty="0">
                <a:solidFill>
                  <a:srgbClr val="E88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УСЛОВИЯ ПЕРЕСМОТРА ПОЗИЦИИ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329184" y="457200"/>
            <a:ext cx="8412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 каких условиях решение меняется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29184" y="1042416"/>
            <a:ext cx="2798064" cy="3767328"/>
          </a:xfrm>
          <a:prstGeom prst="rect">
            <a:avLst/>
          </a:prstGeom>
          <a:solidFill>
            <a:srgbClr val="1B3A5C"/>
          </a:solidFill>
          <a:ln w="6350">
            <a:solidFill>
              <a:srgbClr val="D6E0E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9184" y="1042416"/>
            <a:ext cx="2798064" cy="7315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152144"/>
            <a:ext cx="2542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A6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Ускорить запуск →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57200" y="1481328"/>
            <a:ext cx="2542032" cy="0"/>
          </a:xfrm>
          <a:prstGeom prst="line">
            <a:avLst/>
          </a:prstGeom>
          <a:noFill/>
          <a:ln w="10160">
            <a:solidFill>
              <a:srgbClr val="D6E0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591056"/>
            <a:ext cx="109728" cy="109728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554480"/>
            <a:ext cx="23591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D6E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Конкурент A захватывает &gt; 2 пп рыночной доли за месяц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2286000"/>
            <a:ext cx="109728" cy="109728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249424"/>
            <a:ext cx="23591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D6E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Доступен дополнительный CAPEX под инфраструктуру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2980944"/>
            <a:ext cx="109728" cy="109728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944368"/>
            <a:ext cx="23591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D6E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ML-команда подтверждает Precision@10 ≥ 0.380 после ретрейна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" y="3675888"/>
            <a:ext cx="109728" cy="109728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3639312"/>
            <a:ext cx="23591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D6E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 подтверждает SLA ≥ 95% при текущем объёме +30%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291840" y="1042416"/>
            <a:ext cx="2798064" cy="3767328"/>
          </a:xfrm>
          <a:prstGeom prst="rect">
            <a:avLst/>
          </a:prstGeom>
          <a:solidFill>
            <a:srgbClr val="1B3A5C"/>
          </a:solidFill>
          <a:ln w="6350">
            <a:solidFill>
              <a:srgbClr val="D6E0E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91840" y="1042416"/>
            <a:ext cx="2798064" cy="7315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19856" y="1152144"/>
            <a:ext cx="2542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Остановить проект →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3419856" y="1481328"/>
            <a:ext cx="2542032" cy="0"/>
          </a:xfrm>
          <a:prstGeom prst="line">
            <a:avLst/>
          </a:prstGeom>
          <a:noFill/>
          <a:ln w="10160">
            <a:solidFill>
              <a:srgbClr val="D6E0E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419856" y="1591056"/>
            <a:ext cx="109728" cy="10972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02736" y="1554480"/>
            <a:ext cx="23591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D6E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CAPEX урезан на ≥ 30% без восполнения из других статей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419856" y="2286000"/>
            <a:ext cx="109728" cy="10972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02736" y="2249424"/>
            <a:ext cx="23591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D6E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ML-команда подтверждает: переобучение не восстановит модель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419856" y="2980944"/>
            <a:ext cx="109728" cy="10972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02736" y="2944368"/>
            <a:ext cx="23591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D6E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 при пилотном расширении падает ниже 91%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419856" y="3675888"/>
            <a:ext cx="109728" cy="10972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02736" y="3639312"/>
            <a:ext cx="23591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D6E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Регулятор предъявляет претензии до закрытия 152-ФЗ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254496" y="1042416"/>
            <a:ext cx="2798064" cy="3767328"/>
          </a:xfrm>
          <a:prstGeom prst="rect">
            <a:avLst/>
          </a:prstGeom>
          <a:solidFill>
            <a:srgbClr val="1B3A5C"/>
          </a:solidFill>
          <a:ln w="6350">
            <a:solidFill>
              <a:srgbClr val="D6E0E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254496" y="1042416"/>
            <a:ext cx="2798064" cy="73152"/>
          </a:xfrm>
          <a:prstGeom prst="rect">
            <a:avLst/>
          </a:prstGeom>
          <a:solidFill>
            <a:srgbClr val="D4850A"/>
          </a:solidFill>
          <a:ln w="12700">
            <a:solidFill>
              <a:srgbClr val="D4850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82512" y="1152144"/>
            <a:ext cx="2542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D485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Пересмотреть экономику →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6382512" y="1481328"/>
            <a:ext cx="2542032" cy="0"/>
          </a:xfrm>
          <a:prstGeom prst="line">
            <a:avLst/>
          </a:prstGeom>
          <a:noFill/>
          <a:ln w="10160">
            <a:solidFill>
              <a:srgbClr val="D6E0E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82512" y="1591056"/>
            <a:ext cx="109728" cy="109728"/>
          </a:xfrm>
          <a:prstGeom prst="rect">
            <a:avLst/>
          </a:prstGeom>
          <a:solidFill>
            <a:srgbClr val="D4850A"/>
          </a:solidFill>
          <a:ln w="12700">
            <a:solidFill>
              <a:srgbClr val="D4850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65392" y="1554480"/>
            <a:ext cx="23591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D6E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Payback в обновлённой модели превышает 18 месяцев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382512" y="2286000"/>
            <a:ext cx="109728" cy="109728"/>
          </a:xfrm>
          <a:prstGeom prst="rect">
            <a:avLst/>
          </a:prstGeom>
          <a:solidFill>
            <a:srgbClr val="D4850A"/>
          </a:solidFill>
          <a:ln w="12700">
            <a:solidFill>
              <a:srgbClr val="D4850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565392" y="2249424"/>
            <a:ext cx="23591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D6E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Операционные потери от SLA &gt; доп. выручки от AI 2 квартала подряд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382512" y="2980944"/>
            <a:ext cx="109728" cy="109728"/>
          </a:xfrm>
          <a:prstGeom prst="rect">
            <a:avLst/>
          </a:prstGeom>
          <a:solidFill>
            <a:srgbClr val="D4850A"/>
          </a:solidFill>
          <a:ln w="12700">
            <a:solidFill>
              <a:srgbClr val="D4850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565392" y="2944368"/>
            <a:ext cx="23591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D6E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CDTO покидает компанию, поддержка AI-повестки на совете ослабевает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382512" y="3675888"/>
            <a:ext cx="109728" cy="109728"/>
          </a:xfrm>
          <a:prstGeom prst="rect">
            <a:avLst/>
          </a:prstGeom>
          <a:solidFill>
            <a:srgbClr val="D4850A"/>
          </a:solidFill>
          <a:ln w="12700">
            <a:solidFill>
              <a:srgbClr val="D4850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565392" y="3639312"/>
            <a:ext cx="23591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D6E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Новые регуляторные требования увеличивают стоимость соответствия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329184" y="4759452"/>
            <a:ext cx="8485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Система фиксирует позицию и явно сообщает, что именно нужно измениться для пересмотра решения.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E8873A"/>
          </a:solidFill>
          <a:ln w="12700">
            <a:solidFill>
              <a:srgbClr val="E8873A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AI-персонализация: стратсессия Q1 2026</dc:title>
  <dc:subject>PptxGenJS Presentation</dc:subject>
  <dc:creator>BigTechGroup Strategy</dc:creator>
  <cp:lastModifiedBy>BigTechGroup Strategy</cp:lastModifiedBy>
  <cp:revision>1</cp:revision>
  <dcterms:created xsi:type="dcterms:W3CDTF">2026-03-12T17:19:14Z</dcterms:created>
  <dcterms:modified xsi:type="dcterms:W3CDTF">2026-03-12T17:19:14Z</dcterms:modified>
</cp:coreProperties>
</file>