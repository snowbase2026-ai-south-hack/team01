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5143500" cy="9144000"/>
  <p:embeddedFontLst>
    <p:embeddedFont>
      <p:font typeface="Manrope Light"/>
      <p:regular r:id="rId22"/>
      <p:bold r:id="rId23"/>
    </p:embeddedFont>
    <p:embeddedFont>
      <p:font typeface="Manrope SemiBold"/>
      <p:regular r:id="rId24"/>
      <p:bold r:id="rId25"/>
    </p:embeddedFont>
    <p:embeddedFont>
      <p:font typeface="Manrope"/>
      <p:regular r:id="rId26"/>
      <p:bold r:id="rId27"/>
    </p:embeddedFont>
    <p:embeddedFont>
      <p:font typeface="Manrope ExtraBold"/>
      <p:bold r:id="rId28"/>
    </p:embeddedFon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144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hqPYDMiVahmE8YP6jrpS3/OJmy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998801-6D77-4362-A57D-66F50FE98668}">
  <a:tblStyle styleId="{29998801-6D77-4362-A57D-66F50FE9866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1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anropeLight-regular.fntdata"/><Relationship Id="rId21" Type="http://schemas.openxmlformats.org/officeDocument/2006/relationships/slide" Target="slides/slide15.xml"/><Relationship Id="rId24" Type="http://schemas.openxmlformats.org/officeDocument/2006/relationships/font" Target="fonts/ManropeSemiBold-regular.fntdata"/><Relationship Id="rId23" Type="http://schemas.openxmlformats.org/officeDocument/2006/relationships/font" Target="fonts/Manrope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nrope-regular.fntdata"/><Relationship Id="rId25" Type="http://schemas.openxmlformats.org/officeDocument/2006/relationships/font" Target="fonts/ManropeSemiBold-bold.fntdata"/><Relationship Id="rId28" Type="http://schemas.openxmlformats.org/officeDocument/2006/relationships/font" Target="fonts/ManropeExtraBold-bold.fntdata"/><Relationship Id="rId27" Type="http://schemas.openxmlformats.org/officeDocument/2006/relationships/font" Target="fonts/Manrop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12f0bf9ce_8_0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g3d12f0bf9ce_8_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" name="Google Shape;18;g3d12f0bf9ce_8_0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d12f0bf9ce_8_1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" name="Google Shape;28;g3d12f0bf9ce_8_10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12f0bf9ce_8_3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g3d12f0bf9ce_8_30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2f0bf9ce_8_4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d12f0bf9ce_8_47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12f0bf9ce_8_88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d12f0bf9ce_8_88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d12f0bf9ce_8_88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12f0bf9ce_8_129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d12f0bf9ce_8_129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d12f0bf9ce_8_129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12f0bf9ce_8_172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d12f0bf9ce_8_172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d12f0bf9ce_8_172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12f0bf9ce_8_217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d12f0bf9ce_8_217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d12f0bf9ce_8_217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12f0bf9ce_8_247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d12f0bf9ce_8_247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d12f0bf9ce_8_247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12f0bf9ce_8_294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d12f0bf9ce_8_294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3d12f0bf9ce_8_294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12f0bf9ce_8_34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d12f0bf9ce_8_340:notes"/>
          <p:cNvSpPr/>
          <p:nvPr>
            <p:ph idx="2" type="sldImg"/>
          </p:nvPr>
        </p:nvSpPr>
        <p:spPr>
          <a:xfrm>
            <a:off x="28575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12f0bf9ce_8_361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d12f0bf9ce_8_361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g3d12f0bf9ce_8_361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12f0bf9ce_8_366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d12f0bf9ce_8_366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d12f0bf9ce_8_366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12f0bf9ce_8_398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d12f0bf9ce_8_398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g3d12f0bf9ce_8_398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12f0bf9ce_8_431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d12f0bf9ce_8_431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g3d12f0bf9ce_8_431:notes"/>
          <p:cNvSpPr txBox="1"/>
          <p:nvPr>
            <p:ph idx="12" type="sldNum"/>
          </p:nvPr>
        </p:nvSpPr>
        <p:spPr>
          <a:xfrm>
            <a:off x="2913460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11d8a86da_1_10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" name="Google Shape;13;g3d11d8a86da_1_10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" name="Google Shape;14;g3d11d8a86da_1_10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d12f0bf9ce_8_0"/>
          <p:cNvSpPr/>
          <p:nvPr/>
        </p:nvSpPr>
        <p:spPr>
          <a:xfrm>
            <a:off x="365760" y="8572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0" u="none" cap="none" strike="noStrike">
                <a:solidFill>
                  <a:srgbClr val="757D92"/>
                </a:solidFill>
                <a:latin typeface="Arial Black"/>
                <a:ea typeface="Arial Black"/>
                <a:cs typeface="Arial Black"/>
                <a:sym typeface="Arial Black"/>
              </a:rPr>
              <a:t>SNOW BASE</a:t>
            </a:r>
            <a:endParaRPr b="0" i="0" sz="7700" u="none" cap="none" strike="noStrike">
              <a:solidFill>
                <a:srgbClr val="757D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12f0bf9ce_8_0"/>
          <p:cNvSpPr/>
          <p:nvPr/>
        </p:nvSpPr>
        <p:spPr>
          <a:xfrm>
            <a:off x="365760" y="1845945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0" u="none" cap="none" strike="noStrike">
                <a:solidFill>
                  <a:srgbClr val="54637B"/>
                </a:solidFill>
                <a:latin typeface="Arial Black"/>
                <a:ea typeface="Arial Black"/>
                <a:cs typeface="Arial Black"/>
                <a:sym typeface="Arial Black"/>
              </a:rPr>
              <a:t>HACK</a:t>
            </a:r>
            <a:endParaRPr b="0" i="0" sz="7700" u="none" cap="none" strike="noStrike">
              <a:solidFill>
                <a:srgbClr val="5463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d12f0bf9ce_8_0"/>
          <p:cNvSpPr/>
          <p:nvPr/>
        </p:nvSpPr>
        <p:spPr>
          <a:xfrm>
            <a:off x="365760" y="3712464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5A85"/>
                </a:solidFill>
                <a:latin typeface="Manrope"/>
                <a:ea typeface="Manrope"/>
                <a:cs typeface="Manrope"/>
                <a:sym typeface="Manrope"/>
              </a:rPr>
              <a:t>Брифинг участников</a:t>
            </a:r>
            <a:endParaRPr b="0" i="0" sz="1400" u="none" cap="none" strike="noStrike">
              <a:solidFill>
                <a:srgbClr val="4C5A8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5A85"/>
                </a:solidFill>
                <a:latin typeface="Manrope"/>
                <a:ea typeface="Manrope"/>
                <a:cs typeface="Manrope"/>
                <a:sym typeface="Manrope"/>
              </a:rPr>
              <a:t>20 марта 2026</a:t>
            </a:r>
            <a:endParaRPr b="0" i="0" sz="1400" u="none" cap="none" strike="noStrike">
              <a:solidFill>
                <a:srgbClr val="4C5A8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23;g3d12f0bf9ce_8_0"/>
          <p:cNvSpPr/>
          <p:nvPr/>
        </p:nvSpPr>
        <p:spPr>
          <a:xfrm>
            <a:off x="365760" y="4699426"/>
            <a:ext cx="475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2 дня · 5 часов разработки · Финальный стресс-тест</a:t>
            </a:r>
            <a:endParaRPr b="0" i="0" sz="12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24;g3d12f0bf9ce_8_0"/>
          <p:cNvSpPr/>
          <p:nvPr/>
        </p:nvSpPr>
        <p:spPr>
          <a:xfrm>
            <a:off x="5385816" y="3566160"/>
            <a:ext cx="2726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5A85"/>
                </a:solidFill>
                <a:latin typeface="Manrope"/>
                <a:ea typeface="Manrope"/>
                <a:cs typeface="Manrope"/>
                <a:sym typeface="Manrope"/>
              </a:rPr>
              <a:t>Проектируем AI-ассистента стратегических решений в роли Chief AI &amp; Technology Officer</a:t>
            </a:r>
            <a:endParaRPr b="0" i="0" sz="1400" u="none" cap="none" strike="noStrike">
              <a:solidFill>
                <a:srgbClr val="4C5A8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5" name="Google Shape;25;g3d12f0bf9ce_8_0"/>
          <p:cNvCxnSpPr/>
          <p:nvPr/>
        </p:nvCxnSpPr>
        <p:spPr>
          <a:xfrm>
            <a:off x="2409444" y="3977648"/>
            <a:ext cx="2711400" cy="0"/>
          </a:xfrm>
          <a:prstGeom prst="straightConnector1">
            <a:avLst/>
          </a:prstGeom>
          <a:noFill/>
          <a:ln cap="flat" cmpd="sng" w="4775">
            <a:solidFill>
              <a:srgbClr val="1C3A6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12f0bf9ce_8_10"/>
          <p:cNvSpPr/>
          <p:nvPr/>
        </p:nvSpPr>
        <p:spPr>
          <a:xfrm>
            <a:off x="286994" y="905205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 года тестирует AI-систему персонализации.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Онлайн-выручка растёт. Совет директоров хочет масштабировать на всю страну.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" name="Google Shape;31;g3d12f0bf9ce_8_10"/>
          <p:cNvSpPr/>
          <p:nvPr/>
        </p:nvSpPr>
        <p:spPr>
          <a:xfrm>
            <a:off x="274320" y="1755599"/>
            <a:ext cx="7831500" cy="21900"/>
          </a:xfrm>
          <a:prstGeom prst="rect">
            <a:avLst/>
          </a:prstGeom>
          <a:solidFill>
            <a:srgbClr val="5E6E98"/>
          </a:solidFill>
          <a:ln cap="flat" cmpd="sng" w="9525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5E6E98"/>
              </a:solidFill>
              <a:highlight>
                <a:srgbClr val="0000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" name="Google Shape;32;g3d12f0bf9ce_8_10"/>
          <p:cNvSpPr/>
          <p:nvPr/>
        </p:nvSpPr>
        <p:spPr>
          <a:xfrm>
            <a:off x="274315" y="1847039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Но есть нюанс: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" name="Google Shape;33;g3d12f0bf9ce_8_10"/>
          <p:cNvSpPr/>
          <p:nvPr/>
        </p:nvSpPr>
        <p:spPr>
          <a:xfrm>
            <a:off x="274320" y="2304236"/>
            <a:ext cx="25200" cy="3474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highlight>
                <a:srgbClr val="0000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" name="Google Shape;34;g3d12f0bf9ce_8_10"/>
          <p:cNvSpPr/>
          <p:nvPr/>
        </p:nvSpPr>
        <p:spPr>
          <a:xfrm>
            <a:off x="457195" y="2331671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Модель деградирует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" name="Google Shape;35;g3d12f0bf9ce_8_10"/>
          <p:cNvSpPr/>
          <p:nvPr/>
        </p:nvSpPr>
        <p:spPr>
          <a:xfrm>
            <a:off x="274320" y="2715717"/>
            <a:ext cx="25200" cy="3474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" name="Google Shape;36;g3d12f0bf9ce_8_10"/>
          <p:cNvSpPr/>
          <p:nvPr/>
        </p:nvSpPr>
        <p:spPr>
          <a:xfrm>
            <a:off x="457195" y="2743150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Инфраструктура на пределе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" name="Google Shape;37;g3d12f0bf9ce_8_10"/>
          <p:cNvSpPr/>
          <p:nvPr/>
        </p:nvSpPr>
        <p:spPr>
          <a:xfrm>
            <a:off x="274320" y="3127199"/>
            <a:ext cx="25200" cy="3474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highlight>
                <a:srgbClr val="000000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" name="Google Shape;38;g3d12f0bf9ce_8_10"/>
          <p:cNvSpPr/>
          <p:nvPr/>
        </p:nvSpPr>
        <p:spPr>
          <a:xfrm>
            <a:off x="457195" y="3154630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Бюджет урезан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" name="Google Shape;39;g3d12f0bf9ce_8_10"/>
          <p:cNvSpPr/>
          <p:nvPr/>
        </p:nvSpPr>
        <p:spPr>
          <a:xfrm>
            <a:off x="274320" y="3538680"/>
            <a:ext cx="25200" cy="3474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" name="Google Shape;40;g3d12f0bf9ce_8_10"/>
          <p:cNvSpPr/>
          <p:nvPr/>
        </p:nvSpPr>
        <p:spPr>
          <a:xfrm>
            <a:off x="457195" y="3566109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Юристы предупреждают про 152-ФЗ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" name="Google Shape;41;g3d12f0bf9ce_8_10"/>
          <p:cNvSpPr/>
          <p:nvPr/>
        </p:nvSpPr>
        <p:spPr>
          <a:xfrm>
            <a:off x="274320" y="3950161"/>
            <a:ext cx="25200" cy="3474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" name="Google Shape;42;g3d12f0bf9ce_8_10"/>
          <p:cNvSpPr/>
          <p:nvPr/>
        </p:nvSpPr>
        <p:spPr>
          <a:xfrm>
            <a:off x="457195" y="3977589"/>
            <a:ext cx="46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Логистика не вывезет рост онлайна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" name="Google Shape;43;g3d12f0bf9ce_8_10"/>
          <p:cNvSpPr/>
          <p:nvPr/>
        </p:nvSpPr>
        <p:spPr>
          <a:xfrm>
            <a:off x="274315" y="4576573"/>
            <a:ext cx="3634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 уровне совещания — «надо масштабировать». На уровне цифр — «подождите, давайте посчитаем».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" name="Google Shape;44;g3d12f0bf9ce_8_10"/>
          <p:cNvSpPr/>
          <p:nvPr/>
        </p:nvSpPr>
        <p:spPr>
          <a:xfrm>
            <a:off x="274315" y="265308"/>
            <a:ext cx="609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Что происходит  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BigTechGroup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45" name="Google Shape;45;g3d12f0bf9ce_8_10"/>
          <p:cNvCxnSpPr/>
          <p:nvPr/>
        </p:nvCxnSpPr>
        <p:spPr>
          <a:xfrm>
            <a:off x="3318357" y="647920"/>
            <a:ext cx="67107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g3d12f0bf9ce_8_10"/>
          <p:cNvSpPr/>
          <p:nvPr/>
        </p:nvSpPr>
        <p:spPr>
          <a:xfrm>
            <a:off x="2617317" y="1074033"/>
            <a:ext cx="8183880" cy="4064911"/>
          </a:xfrm>
          <a:custGeom>
            <a:rect b="b" l="l" r="r" t="t"/>
            <a:pathLst>
              <a:path extrusionOk="0" h="7291321" w="18288000">
                <a:moveTo>
                  <a:pt x="0" y="0"/>
                </a:moveTo>
                <a:lnTo>
                  <a:pt x="18288000" y="0"/>
                </a:lnTo>
                <a:lnTo>
                  <a:pt x="18288000" y="7291321"/>
                </a:lnTo>
                <a:lnTo>
                  <a:pt x="0" y="729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60" l="-37300" r="0" t="-51719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2f0bf9ce_8_30"/>
          <p:cNvSpPr/>
          <p:nvPr/>
        </p:nvSpPr>
        <p:spPr>
          <a:xfrm>
            <a:off x="274325" y="1188725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 года тестирует AI-систему персонализации.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Онлайн-выручка растёт. Совет директоров хочет масштабировать на всю страну.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" name="Google Shape;52;g3d12f0bf9ce_8_30"/>
          <p:cNvSpPr/>
          <p:nvPr/>
        </p:nvSpPr>
        <p:spPr>
          <a:xfrm>
            <a:off x="274325" y="2148838"/>
            <a:ext cx="5477700" cy="29700"/>
          </a:xfrm>
          <a:prstGeom prst="rect">
            <a:avLst/>
          </a:prstGeom>
          <a:solidFill>
            <a:srgbClr val="5E6E98"/>
          </a:solidFill>
          <a:ln cap="flat" cmpd="sng" w="4775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" name="Google Shape;53;g3d12f0bf9ce_8_30"/>
          <p:cNvSpPr/>
          <p:nvPr/>
        </p:nvSpPr>
        <p:spPr>
          <a:xfrm>
            <a:off x="274345" y="251525"/>
            <a:ext cx="7490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Что происходит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BigTechGroup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" name="Google Shape;54;g3d12f0bf9ce_8_30"/>
          <p:cNvSpPr/>
          <p:nvPr/>
        </p:nvSpPr>
        <p:spPr>
          <a:xfrm>
            <a:off x="274355" y="2276129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ДЕДЛАЙН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" name="Google Shape;55;g3d12f0bf9ce_8_30"/>
          <p:cNvSpPr/>
          <p:nvPr/>
        </p:nvSpPr>
        <p:spPr>
          <a:xfrm>
            <a:off x="274355" y="2550449"/>
            <a:ext cx="310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14 дней</a:t>
            </a:r>
            <a:endParaRPr b="0" i="0" sz="4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" name="Google Shape;56;g3d12f0bf9ce_8_30"/>
          <p:cNvSpPr/>
          <p:nvPr/>
        </p:nvSpPr>
        <p:spPr>
          <a:xfrm>
            <a:off x="274355" y="3163096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Совет директоров ждёт решения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" name="Google Shape;57;g3d12f0bf9ce_8_30"/>
          <p:cNvSpPr/>
          <p:nvPr/>
        </p:nvSpPr>
        <p:spPr>
          <a:xfrm>
            <a:off x="274355" y="3801123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Варианты на столе: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" name="Google Shape;58;g3d12f0bf9ce_8_30"/>
          <p:cNvSpPr/>
          <p:nvPr/>
        </p:nvSpPr>
        <p:spPr>
          <a:xfrm>
            <a:off x="274325" y="4190075"/>
            <a:ext cx="264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Масштабировать сейчас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" name="Google Shape;59;g3d12f0bf9ce_8_30"/>
          <p:cNvSpPr/>
          <p:nvPr/>
        </p:nvSpPr>
        <p:spPr>
          <a:xfrm>
            <a:off x="295625" y="4515030"/>
            <a:ext cx="25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Отложить запуск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" name="Google Shape;60;g3d12f0bf9ce_8_30"/>
          <p:cNvSpPr/>
          <p:nvPr/>
        </p:nvSpPr>
        <p:spPr>
          <a:xfrm>
            <a:off x="3246063" y="4197985"/>
            <a:ext cx="259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Остановить проект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g3d12f0bf9ce_8_30"/>
          <p:cNvSpPr/>
          <p:nvPr/>
        </p:nvSpPr>
        <p:spPr>
          <a:xfrm>
            <a:off x="3250488" y="4529038"/>
            <a:ext cx="236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Предложить свое решение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" name="Google Shape;62;g3d12f0bf9ce_8_30"/>
          <p:cNvSpPr/>
          <p:nvPr/>
        </p:nvSpPr>
        <p:spPr>
          <a:xfrm>
            <a:off x="274325" y="3656712"/>
            <a:ext cx="5477700" cy="29700"/>
          </a:xfrm>
          <a:prstGeom prst="rect">
            <a:avLst/>
          </a:prstGeom>
          <a:solidFill>
            <a:srgbClr val="5E6E98"/>
          </a:solidFill>
          <a:ln cap="flat" cmpd="sng" w="4775">
            <a:solidFill>
              <a:srgbClr val="5E6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63" name="Google Shape;63;g3d12f0bf9ce_8_30"/>
          <p:cNvCxnSpPr/>
          <p:nvPr/>
        </p:nvCxnSpPr>
        <p:spPr>
          <a:xfrm>
            <a:off x="3246063" y="683985"/>
            <a:ext cx="63093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g3d12f0bf9ce_8_30"/>
          <p:cNvSpPr/>
          <p:nvPr/>
        </p:nvSpPr>
        <p:spPr>
          <a:xfrm>
            <a:off x="3714092" y="2699701"/>
            <a:ext cx="6446520" cy="2515506"/>
          </a:xfrm>
          <a:custGeom>
            <a:rect b="b" l="l" r="r" t="t"/>
            <a:pathLst>
              <a:path extrusionOk="0" h="7291321" w="18288000">
                <a:moveTo>
                  <a:pt x="0" y="0"/>
                </a:moveTo>
                <a:lnTo>
                  <a:pt x="18288000" y="0"/>
                </a:lnTo>
                <a:lnTo>
                  <a:pt x="18288000" y="7291321"/>
                </a:lnTo>
                <a:lnTo>
                  <a:pt x="0" y="729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60" l="-37300" r="0" t="-51719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2f0bf9ce_8_47"/>
          <p:cNvSpPr/>
          <p:nvPr/>
        </p:nvSpPr>
        <p:spPr>
          <a:xfrm>
            <a:off x="273493" y="236809"/>
            <a:ext cx="81447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600"/>
              <a:buFont typeface="Arial"/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Роли и конфликты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" name="Google Shape;70;g3d12f0bf9ce_8_47"/>
          <p:cNvSpPr/>
          <p:nvPr/>
        </p:nvSpPr>
        <p:spPr>
          <a:xfrm>
            <a:off x="273488" y="888492"/>
            <a:ext cx="2760000" cy="54300"/>
          </a:xfrm>
          <a:prstGeom prst="rect">
            <a:avLst/>
          </a:prstGeom>
          <a:solidFill>
            <a:srgbClr val="1C3A6B"/>
          </a:solidFill>
          <a:ln cap="flat" cmpd="sng" w="12575">
            <a:solidFill>
              <a:srgbClr val="1C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C3A6B"/>
              </a:solidFill>
              <a:highlight>
                <a:srgbClr val="1C3A6B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" name="Google Shape;71;g3d12f0bf9ce_8_47"/>
          <p:cNvSpPr/>
          <p:nvPr/>
        </p:nvSpPr>
        <p:spPr>
          <a:xfrm>
            <a:off x="409231" y="997086"/>
            <a:ext cx="2443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4C5A85"/>
                </a:solidFill>
                <a:latin typeface="Manrope"/>
                <a:ea typeface="Manrope"/>
                <a:cs typeface="Manrope"/>
                <a:sym typeface="Manrope"/>
              </a:rPr>
              <a:t>CAITO</a:t>
            </a:r>
            <a:endParaRPr b="0" i="0" sz="1600" u="none" cap="none" strike="noStrike">
              <a:solidFill>
                <a:srgbClr val="4C5A8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2" name="Google Shape;72;g3d12f0bf9ce_8_47"/>
          <p:cNvSpPr/>
          <p:nvPr/>
        </p:nvSpPr>
        <p:spPr>
          <a:xfrm>
            <a:off x="409231" y="1322869"/>
            <a:ext cx="244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Ваша роль</a:t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g3d12f0bf9ce_8_47"/>
          <p:cNvSpPr/>
          <p:nvPr/>
        </p:nvSpPr>
        <p:spPr>
          <a:xfrm>
            <a:off x="409231" y="1576255"/>
            <a:ext cx="2488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Между технологией и бизнесом. Нельзя спрятаться ни за одну сторону.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4" name="Google Shape;74;g3d12f0bf9ce_8_47"/>
          <p:cNvSpPr/>
          <p:nvPr/>
        </p:nvSpPr>
        <p:spPr>
          <a:xfrm>
            <a:off x="409231" y="2264018"/>
            <a:ext cx="2488800" cy="36300"/>
          </a:xfrm>
          <a:prstGeom prst="rect">
            <a:avLst/>
          </a:prstGeom>
          <a:solidFill>
            <a:srgbClr val="30363D"/>
          </a:solidFill>
          <a:ln cap="flat" cmpd="sng" w="125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g3d12f0bf9ce_8_47"/>
          <p:cNvSpPr/>
          <p:nvPr/>
        </p:nvSpPr>
        <p:spPr>
          <a:xfrm>
            <a:off x="409231" y="2336414"/>
            <a:ext cx="248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SLA · latency · incremental revenue</a:t>
            </a:r>
            <a:endParaRPr b="0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" name="Google Shape;76;g3d12f0bf9ce_8_47"/>
          <p:cNvSpPr/>
          <p:nvPr/>
        </p:nvSpPr>
        <p:spPr>
          <a:xfrm>
            <a:off x="3187431" y="888492"/>
            <a:ext cx="2760000" cy="54300"/>
          </a:xfrm>
          <a:prstGeom prst="rect">
            <a:avLst/>
          </a:prstGeom>
          <a:solidFill>
            <a:srgbClr val="1C3A6B"/>
          </a:solidFill>
          <a:ln cap="flat" cmpd="sng" w="12575">
            <a:solidFill>
              <a:srgbClr val="1C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C3A6B"/>
              </a:solidFill>
              <a:highlight>
                <a:srgbClr val="1C3A6B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g3d12f0bf9ce_8_47"/>
          <p:cNvSpPr/>
          <p:nvPr/>
        </p:nvSpPr>
        <p:spPr>
          <a:xfrm>
            <a:off x="3323174" y="997086"/>
            <a:ext cx="2443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4C5A85"/>
                </a:solidFill>
                <a:latin typeface="Manrope"/>
                <a:ea typeface="Manrope"/>
                <a:cs typeface="Manrope"/>
                <a:sym typeface="Manrope"/>
              </a:rPr>
              <a:t>CEO</a:t>
            </a:r>
            <a:endParaRPr b="0" i="0" sz="1600" u="none" cap="none" strike="noStrike">
              <a:solidFill>
                <a:srgbClr val="4C5A8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8" name="Google Shape;78;g3d12f0bf9ce_8_47"/>
          <p:cNvSpPr/>
          <p:nvPr/>
        </p:nvSpPr>
        <p:spPr>
          <a:xfrm>
            <a:off x="3323174" y="1322869"/>
            <a:ext cx="244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Стратегическое давление</a:t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9" name="Google Shape;79;g3d12f0bf9ce_8_47"/>
          <p:cNvSpPr/>
          <p:nvPr/>
        </p:nvSpPr>
        <p:spPr>
          <a:xfrm>
            <a:off x="3323174" y="1576255"/>
            <a:ext cx="2488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Хочет рост доли рынка. Конкуренты масштабируют — для него это уже аргумент.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" name="Google Shape;80;g3d12f0bf9ce_8_47"/>
          <p:cNvSpPr/>
          <p:nvPr/>
        </p:nvSpPr>
        <p:spPr>
          <a:xfrm>
            <a:off x="3323174" y="2264018"/>
            <a:ext cx="2488800" cy="36300"/>
          </a:xfrm>
          <a:prstGeom prst="rect">
            <a:avLst/>
          </a:prstGeom>
          <a:solidFill>
            <a:srgbClr val="30363D"/>
          </a:solidFill>
          <a:ln cap="flat" cmpd="sng" w="125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g3d12f0bf9ce_8_47"/>
          <p:cNvSpPr/>
          <p:nvPr/>
        </p:nvSpPr>
        <p:spPr>
          <a:xfrm>
            <a:off x="3323174" y="2336414"/>
            <a:ext cx="248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Рыночная доля · цифровая выручка</a:t>
            </a:r>
            <a:endParaRPr b="0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" name="Google Shape;82;g3d12f0bf9ce_8_47"/>
          <p:cNvSpPr/>
          <p:nvPr/>
        </p:nvSpPr>
        <p:spPr>
          <a:xfrm>
            <a:off x="6101374" y="888492"/>
            <a:ext cx="2760000" cy="54300"/>
          </a:xfrm>
          <a:prstGeom prst="rect">
            <a:avLst/>
          </a:prstGeom>
          <a:solidFill>
            <a:srgbClr val="1C3A6B"/>
          </a:solidFill>
          <a:ln cap="flat" cmpd="sng" w="12575">
            <a:solidFill>
              <a:srgbClr val="1C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C3A6B"/>
              </a:solidFill>
              <a:highlight>
                <a:srgbClr val="1C3A6B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g3d12f0bf9ce_8_47"/>
          <p:cNvSpPr/>
          <p:nvPr/>
        </p:nvSpPr>
        <p:spPr>
          <a:xfrm>
            <a:off x="6237117" y="997086"/>
            <a:ext cx="2443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4C5A85"/>
                </a:solidFill>
                <a:latin typeface="Manrope"/>
                <a:ea typeface="Manrope"/>
                <a:cs typeface="Manrope"/>
                <a:sym typeface="Manrope"/>
              </a:rPr>
              <a:t>CFO</a:t>
            </a:r>
            <a:endParaRPr b="0" i="0" sz="1600" u="none" cap="none" strike="noStrike">
              <a:solidFill>
                <a:srgbClr val="4C5A8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g3d12f0bf9ce_8_47"/>
          <p:cNvSpPr/>
          <p:nvPr/>
        </p:nvSpPr>
        <p:spPr>
          <a:xfrm>
            <a:off x="6237117" y="1322869"/>
            <a:ext cx="244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Финансовые ограничения</a:t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g3d12f0bf9ce_8_47"/>
          <p:cNvSpPr/>
          <p:nvPr/>
        </p:nvSpPr>
        <p:spPr>
          <a:xfrm>
            <a:off x="6237117" y="1576255"/>
            <a:ext cx="2488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Нет прозрачной финансовой модели — нет решения. CAPEX под угрозой сокращения на 30%.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g3d12f0bf9ce_8_47"/>
          <p:cNvSpPr/>
          <p:nvPr/>
        </p:nvSpPr>
        <p:spPr>
          <a:xfrm>
            <a:off x="6237117" y="2264018"/>
            <a:ext cx="2488800" cy="36300"/>
          </a:xfrm>
          <a:prstGeom prst="rect">
            <a:avLst/>
          </a:prstGeom>
          <a:solidFill>
            <a:srgbClr val="30363D"/>
          </a:solidFill>
          <a:ln cap="flat" cmpd="sng" w="125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g3d12f0bf9ce_8_47"/>
          <p:cNvSpPr/>
          <p:nvPr/>
        </p:nvSpPr>
        <p:spPr>
          <a:xfrm>
            <a:off x="6237117" y="2336414"/>
            <a:ext cx="248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EBITDA · CAPEX · маржинальность</a:t>
            </a:r>
            <a:endParaRPr b="0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g3d12f0bf9ce_8_47"/>
          <p:cNvSpPr/>
          <p:nvPr/>
        </p:nvSpPr>
        <p:spPr>
          <a:xfrm>
            <a:off x="273488" y="2969880"/>
            <a:ext cx="2760000" cy="54300"/>
          </a:xfrm>
          <a:prstGeom prst="rect">
            <a:avLst/>
          </a:prstGeom>
          <a:solidFill>
            <a:srgbClr val="F78166"/>
          </a:solidFill>
          <a:ln cap="flat" cmpd="sng" w="12575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g3d12f0bf9ce_8_47"/>
          <p:cNvSpPr/>
          <p:nvPr/>
        </p:nvSpPr>
        <p:spPr>
          <a:xfrm>
            <a:off x="409231" y="3078475"/>
            <a:ext cx="2443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COO</a:t>
            </a:r>
            <a:endParaRPr b="0" i="0" sz="16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g3d12f0bf9ce_8_47"/>
          <p:cNvSpPr/>
          <p:nvPr/>
        </p:nvSpPr>
        <p:spPr>
          <a:xfrm>
            <a:off x="409231" y="3404257"/>
            <a:ext cx="244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Операционные риски</a:t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g3d12f0bf9ce_8_47"/>
          <p:cNvSpPr/>
          <p:nvPr/>
        </p:nvSpPr>
        <p:spPr>
          <a:xfrm>
            <a:off x="409231" y="3657643"/>
            <a:ext cx="2488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Рост онлайна → нагрузка на логистику → out-of-stock. SLA поставок упадёт до 92%.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g3d12f0bf9ce_8_47"/>
          <p:cNvSpPr/>
          <p:nvPr/>
        </p:nvSpPr>
        <p:spPr>
          <a:xfrm>
            <a:off x="409231" y="4345407"/>
            <a:ext cx="2488800" cy="36300"/>
          </a:xfrm>
          <a:prstGeom prst="rect">
            <a:avLst/>
          </a:prstGeom>
          <a:solidFill>
            <a:srgbClr val="30363D"/>
          </a:solidFill>
          <a:ln cap="flat" cmpd="sng" w="125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g3d12f0bf9ce_8_47"/>
          <p:cNvSpPr/>
          <p:nvPr/>
        </p:nvSpPr>
        <p:spPr>
          <a:xfrm>
            <a:off x="409231" y="4417803"/>
            <a:ext cx="248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SLA · OOS · оборачиваемость</a:t>
            </a:r>
            <a:endParaRPr b="0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" name="Google Shape;94;g3d12f0bf9ce_8_47"/>
          <p:cNvSpPr/>
          <p:nvPr/>
        </p:nvSpPr>
        <p:spPr>
          <a:xfrm>
            <a:off x="3187431" y="2969880"/>
            <a:ext cx="2760000" cy="54300"/>
          </a:xfrm>
          <a:prstGeom prst="rect">
            <a:avLst/>
          </a:prstGeom>
          <a:solidFill>
            <a:srgbClr val="D2A8FF"/>
          </a:solidFill>
          <a:ln cap="flat" cmpd="sng" w="12575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2A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" name="Google Shape;95;g3d12f0bf9ce_8_47"/>
          <p:cNvSpPr/>
          <p:nvPr/>
        </p:nvSpPr>
        <p:spPr>
          <a:xfrm>
            <a:off x="3323174" y="3078475"/>
            <a:ext cx="2443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ML-команда</a:t>
            </a:r>
            <a:endParaRPr b="0" i="0" sz="16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" name="Google Shape;96;g3d12f0bf9ce_8_47"/>
          <p:cNvSpPr/>
          <p:nvPr/>
        </p:nvSpPr>
        <p:spPr>
          <a:xfrm>
            <a:off x="3323174" y="3404257"/>
            <a:ext cx="244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Технический реализм</a:t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7" name="Google Shape;97;g3d12f0bf9ce_8_47"/>
          <p:cNvSpPr/>
          <p:nvPr/>
        </p:nvSpPr>
        <p:spPr>
          <a:xfrm>
            <a:off x="3323174" y="3657643"/>
            <a:ext cx="2488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Знает про деградацию лучше всех. Масштабирование без переобучения = +40% ошибок.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8" name="Google Shape;98;g3d12f0bf9ce_8_47"/>
          <p:cNvSpPr/>
          <p:nvPr/>
        </p:nvSpPr>
        <p:spPr>
          <a:xfrm>
            <a:off x="3323174" y="4345407"/>
            <a:ext cx="2488800" cy="36300"/>
          </a:xfrm>
          <a:prstGeom prst="rect">
            <a:avLst/>
          </a:prstGeom>
          <a:solidFill>
            <a:srgbClr val="30363D"/>
          </a:solidFill>
          <a:ln cap="flat" cmpd="sng" w="125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9" name="Google Shape;99;g3d12f0bf9ce_8_47"/>
          <p:cNvSpPr/>
          <p:nvPr/>
        </p:nvSpPr>
        <p:spPr>
          <a:xfrm>
            <a:off x="3323174" y="4417803"/>
            <a:ext cx="248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Accuracy · drift · latency</a:t>
            </a:r>
            <a:endParaRPr b="0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g3d12f0bf9ce_8_47"/>
          <p:cNvSpPr/>
          <p:nvPr/>
        </p:nvSpPr>
        <p:spPr>
          <a:xfrm>
            <a:off x="6101374" y="2969880"/>
            <a:ext cx="2760000" cy="54300"/>
          </a:xfrm>
          <a:prstGeom prst="rect">
            <a:avLst/>
          </a:prstGeom>
          <a:solidFill>
            <a:srgbClr val="8B949E"/>
          </a:solidFill>
          <a:ln cap="flat" cmpd="sng" w="12575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g3d12f0bf9ce_8_47"/>
          <p:cNvSpPr/>
          <p:nvPr/>
        </p:nvSpPr>
        <p:spPr>
          <a:xfrm>
            <a:off x="6237117" y="3078475"/>
            <a:ext cx="2443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CDTO</a:t>
            </a:r>
            <a:endParaRPr b="0" i="0" sz="16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" name="Google Shape;102;g3d12f0bf9ce_8_47"/>
          <p:cNvSpPr/>
          <p:nvPr/>
        </p:nvSpPr>
        <p:spPr>
          <a:xfrm>
            <a:off x="6237117" y="3404257"/>
            <a:ext cx="244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Союзник (пока)</a:t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" name="Google Shape;103;g3d12f0bf9ce_8_47"/>
          <p:cNvSpPr/>
          <p:nvPr/>
        </p:nvSpPr>
        <p:spPr>
          <a:xfrm>
            <a:off x="6237117" y="3657643"/>
            <a:ext cx="2488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Главный сторонник AI-повестки. Но что если он покинет компанию до решения?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" name="Google Shape;104;g3d12f0bf9ce_8_47"/>
          <p:cNvSpPr/>
          <p:nvPr/>
        </p:nvSpPr>
        <p:spPr>
          <a:xfrm>
            <a:off x="6237117" y="4345407"/>
            <a:ext cx="2488800" cy="36300"/>
          </a:xfrm>
          <a:prstGeom prst="rect">
            <a:avLst/>
          </a:prstGeom>
          <a:solidFill>
            <a:srgbClr val="30363D"/>
          </a:solidFill>
          <a:ln cap="flat" cmpd="sng" w="125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475" lIns="90475" spcFirstLastPara="1" rIns="90475" wrap="square" tIns="9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" name="Google Shape;105;g3d12f0bf9ce_8_47"/>
          <p:cNvSpPr/>
          <p:nvPr/>
        </p:nvSpPr>
        <p:spPr>
          <a:xfrm>
            <a:off x="6237117" y="4417803"/>
            <a:ext cx="2488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Конверсия · частота покупок</a:t>
            </a:r>
            <a:endParaRPr b="0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06" name="Google Shape;106;g3d12f0bf9ce_8_47"/>
          <p:cNvCxnSpPr/>
          <p:nvPr/>
        </p:nvCxnSpPr>
        <p:spPr>
          <a:xfrm>
            <a:off x="3524865" y="426860"/>
            <a:ext cx="61353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12f0bf9ce_8_88"/>
          <p:cNvSpPr/>
          <p:nvPr/>
        </p:nvSpPr>
        <p:spPr>
          <a:xfrm>
            <a:off x="274320" y="120081"/>
            <a:ext cx="832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Что нужно построить </a:t>
            </a:r>
            <a:endParaRPr b="0" i="0" sz="22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3" name="Google Shape;113;g3d12f0bf9ce_8_88"/>
          <p:cNvSpPr/>
          <p:nvPr/>
        </p:nvSpPr>
        <p:spPr>
          <a:xfrm>
            <a:off x="274320" y="512112"/>
            <a:ext cx="6730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Диалоговый AI-ассистент в роли CAITO</a:t>
            </a:r>
            <a:endParaRPr b="0" i="0" sz="22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g3d12f0bf9ce_8_88"/>
          <p:cNvSpPr/>
          <p:nvPr/>
        </p:nvSpPr>
        <p:spPr>
          <a:xfrm>
            <a:off x="329133" y="1260774"/>
            <a:ext cx="276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" name="Google Shape;115;g3d12f0bf9ce_8_88"/>
          <p:cNvSpPr/>
          <p:nvPr/>
        </p:nvSpPr>
        <p:spPr>
          <a:xfrm>
            <a:off x="438912" y="1224210"/>
            <a:ext cx="4755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Работает с данными кейса — цифрами, метриками, ограничениями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" name="Google Shape;116;g3d12f0bf9ce_8_88"/>
          <p:cNvSpPr/>
          <p:nvPr/>
        </p:nvSpPr>
        <p:spPr>
          <a:xfrm>
            <a:off x="329133" y="1873434"/>
            <a:ext cx="27600" cy="2379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7" name="Google Shape;117;g3d12f0bf9ce_8_88"/>
          <p:cNvSpPr/>
          <p:nvPr/>
        </p:nvSpPr>
        <p:spPr>
          <a:xfrm>
            <a:off x="438912" y="1791138"/>
            <a:ext cx="4755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Учитывает конфликты ролей и их интересы одновременно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8" name="Google Shape;118;g3d12f0bf9ce_8_88"/>
          <p:cNvSpPr/>
          <p:nvPr/>
        </p:nvSpPr>
        <p:spPr>
          <a:xfrm>
            <a:off x="329133" y="2440362"/>
            <a:ext cx="27600" cy="2379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" name="Google Shape;119;g3d12f0bf9ce_8_88"/>
          <p:cNvSpPr/>
          <p:nvPr/>
        </p:nvSpPr>
        <p:spPr>
          <a:xfrm>
            <a:off x="438912" y="2358066"/>
            <a:ext cx="4755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Пересчитывает последствия при новых вводных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" name="Google Shape;120;g3d12f0bf9ce_8_88"/>
          <p:cNvSpPr/>
          <p:nvPr/>
        </p:nvSpPr>
        <p:spPr>
          <a:xfrm>
            <a:off x="329133" y="3007290"/>
            <a:ext cx="27600" cy="2379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" name="Google Shape;121;g3d12f0bf9ce_8_88"/>
          <p:cNvSpPr/>
          <p:nvPr/>
        </p:nvSpPr>
        <p:spPr>
          <a:xfrm>
            <a:off x="438912" y="2924994"/>
            <a:ext cx="4755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Меняет позицию только при новых фактах — не под давлением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" name="Google Shape;122;g3d12f0bf9ce_8_88"/>
          <p:cNvSpPr/>
          <p:nvPr/>
        </p:nvSpPr>
        <p:spPr>
          <a:xfrm>
            <a:off x="329133" y="3574218"/>
            <a:ext cx="27600" cy="2379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3" name="Google Shape;123;g3d12f0bf9ce_8_88"/>
          <p:cNvSpPr/>
          <p:nvPr/>
        </p:nvSpPr>
        <p:spPr>
          <a:xfrm>
            <a:off x="438912" y="3491921"/>
            <a:ext cx="4755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Явно фиксирует допущения и объясняет логику через метрики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4" name="Google Shape;124;g3d12f0bf9ce_8_88"/>
          <p:cNvSpPr/>
          <p:nvPr/>
        </p:nvSpPr>
        <p:spPr>
          <a:xfrm>
            <a:off x="5609844" y="895109"/>
            <a:ext cx="315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РЕАЛИСТИЧНЫЙ СПЕКТР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5" name="Google Shape;125;g3d12f0bf9ce_8_88"/>
          <p:cNvSpPr/>
          <p:nvPr/>
        </p:nvSpPr>
        <p:spPr>
          <a:xfrm>
            <a:off x="5719572" y="1352310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Ур.1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6" name="Google Shape;126;g3d12f0bf9ce_8_88"/>
          <p:cNvSpPr/>
          <p:nvPr/>
        </p:nvSpPr>
        <p:spPr>
          <a:xfrm>
            <a:off x="5719572" y="1599197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Простой RAG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g3d12f0bf9ce_8_88"/>
          <p:cNvSpPr/>
          <p:nvPr/>
        </p:nvSpPr>
        <p:spPr>
          <a:xfrm>
            <a:off x="7164324" y="1398030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30–60 мин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g3d12f0bf9ce_8_88"/>
          <p:cNvSpPr/>
          <p:nvPr/>
        </p:nvSpPr>
        <p:spPr>
          <a:xfrm>
            <a:off x="7164324" y="1599198"/>
            <a:ext cx="107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Стресс: 0–1/5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9" name="Google Shape;129;g3d12f0bf9ce_8_88"/>
          <p:cNvSpPr/>
          <p:nvPr/>
        </p:nvSpPr>
        <p:spPr>
          <a:xfrm>
            <a:off x="5719572" y="2120406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Ур.2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g3d12f0bf9ce_8_88"/>
          <p:cNvSpPr/>
          <p:nvPr/>
        </p:nvSpPr>
        <p:spPr>
          <a:xfrm>
            <a:off x="5719572" y="2367294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RAG + CoT/ReAct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1" name="Google Shape;131;g3d12f0bf9ce_8_88"/>
          <p:cNvSpPr/>
          <p:nvPr/>
        </p:nvSpPr>
        <p:spPr>
          <a:xfrm>
            <a:off x="7164324" y="2166126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1.5–2.5 ч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2" name="Google Shape;132;g3d12f0bf9ce_8_88"/>
          <p:cNvSpPr/>
          <p:nvPr/>
        </p:nvSpPr>
        <p:spPr>
          <a:xfrm>
            <a:off x="7164324" y="236729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Стресс: 1–2/5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3" name="Google Shape;133;g3d12f0bf9ce_8_88"/>
          <p:cNvSpPr/>
          <p:nvPr/>
        </p:nvSpPr>
        <p:spPr>
          <a:xfrm>
            <a:off x="5531952" y="2888502"/>
            <a:ext cx="50400" cy="5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4" name="Google Shape;134;g3d12f0bf9ce_8_88"/>
          <p:cNvSpPr/>
          <p:nvPr/>
        </p:nvSpPr>
        <p:spPr>
          <a:xfrm>
            <a:off x="5719572" y="2888502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Ур.3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g3d12f0bf9ce_8_88"/>
          <p:cNvSpPr/>
          <p:nvPr/>
        </p:nvSpPr>
        <p:spPr>
          <a:xfrm>
            <a:off x="5719572" y="3135390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Агент + Tools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6" name="Google Shape;136;g3d12f0bf9ce_8_88"/>
          <p:cNvSpPr/>
          <p:nvPr/>
        </p:nvSpPr>
        <p:spPr>
          <a:xfrm>
            <a:off x="7164324" y="2934222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2.5–3.5 ч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" name="Google Shape;137;g3d12f0bf9ce_8_88"/>
          <p:cNvSpPr/>
          <p:nvPr/>
        </p:nvSpPr>
        <p:spPr>
          <a:xfrm>
            <a:off x="7164324" y="3135389"/>
            <a:ext cx="94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Стресс: 3–4/5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8" name="Google Shape;138;g3d12f0bf9ce_8_88"/>
          <p:cNvSpPr/>
          <p:nvPr/>
        </p:nvSpPr>
        <p:spPr>
          <a:xfrm>
            <a:off x="7987284" y="3101571"/>
            <a:ext cx="5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✓ рек.</a:t>
            </a:r>
            <a:endParaRPr b="0" i="0" sz="9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9" name="Google Shape;139;g3d12f0bf9ce_8_88"/>
          <p:cNvSpPr/>
          <p:nvPr/>
        </p:nvSpPr>
        <p:spPr>
          <a:xfrm>
            <a:off x="5531952" y="3656598"/>
            <a:ext cx="50400" cy="5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0" name="Google Shape;140;g3d12f0bf9ce_8_88"/>
          <p:cNvSpPr/>
          <p:nvPr/>
        </p:nvSpPr>
        <p:spPr>
          <a:xfrm>
            <a:off x="5719572" y="3656598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Ур.4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" name="Google Shape;141;g3d12f0bf9ce_8_88"/>
          <p:cNvSpPr/>
          <p:nvPr/>
        </p:nvSpPr>
        <p:spPr>
          <a:xfrm>
            <a:off x="5719572" y="3903486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Мультиагенты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2" name="Google Shape;142;g3d12f0bf9ce_8_88"/>
          <p:cNvSpPr/>
          <p:nvPr/>
        </p:nvSpPr>
        <p:spPr>
          <a:xfrm>
            <a:off x="7164324" y="3702318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3–4.5 ч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3" name="Google Shape;143;g3d12f0bf9ce_8_88"/>
          <p:cNvSpPr/>
          <p:nvPr/>
        </p:nvSpPr>
        <p:spPr>
          <a:xfrm>
            <a:off x="7164324" y="3903486"/>
            <a:ext cx="94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Стресс: 4–5/5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4" name="Google Shape;144;g3d12f0bf9ce_8_88"/>
          <p:cNvSpPr/>
          <p:nvPr/>
        </p:nvSpPr>
        <p:spPr>
          <a:xfrm>
            <a:off x="7987284" y="3869667"/>
            <a:ext cx="5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✓ рек.</a:t>
            </a:r>
            <a:endParaRPr b="0" i="0" sz="9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5" name="Google Shape;145;g3d12f0bf9ce_8_88"/>
          <p:cNvSpPr/>
          <p:nvPr/>
        </p:nvSpPr>
        <p:spPr>
          <a:xfrm>
            <a:off x="5527464" y="432876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Цельтесь в Уровень 3 с элементами Уровня 4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6" name="Google Shape;146;g3d12f0bf9ce_8_88"/>
          <p:cNvSpPr/>
          <p:nvPr/>
        </p:nvSpPr>
        <p:spPr>
          <a:xfrm>
            <a:off x="5531886" y="1352309"/>
            <a:ext cx="50400" cy="5580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7" name="Google Shape;147;g3d12f0bf9ce_8_88"/>
          <p:cNvSpPr/>
          <p:nvPr/>
        </p:nvSpPr>
        <p:spPr>
          <a:xfrm>
            <a:off x="5531886" y="2120406"/>
            <a:ext cx="50400" cy="5580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48" name="Google Shape;148;g3d12f0bf9ce_8_88"/>
          <p:cNvCxnSpPr/>
          <p:nvPr/>
        </p:nvCxnSpPr>
        <p:spPr>
          <a:xfrm>
            <a:off x="3547493" y="343182"/>
            <a:ext cx="61128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2f0bf9ce_8_129"/>
          <p:cNvSpPr/>
          <p:nvPr/>
        </p:nvSpPr>
        <p:spPr>
          <a:xfrm>
            <a:off x="274260" y="137088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Данные и инфраструктура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" name="Google Shape;155;g3d12f0bf9ce_8_129"/>
          <p:cNvSpPr/>
          <p:nvPr/>
        </p:nvSpPr>
        <p:spPr>
          <a:xfrm>
            <a:off x="274320" y="640080"/>
            <a:ext cx="4114800" cy="549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6" name="Google Shape;156;g3d12f0bf9ce_8_129"/>
          <p:cNvSpPr/>
          <p:nvPr/>
        </p:nvSpPr>
        <p:spPr>
          <a:xfrm>
            <a:off x="411480" y="749808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НАБОР ДАННЫХ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7" name="Google Shape;157;g3d12f0bf9ce_8_129"/>
          <p:cNvSpPr/>
          <p:nvPr/>
        </p:nvSpPr>
        <p:spPr>
          <a:xfrm>
            <a:off x="384048" y="1143000"/>
            <a:ext cx="54900" cy="3840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8" name="Google Shape;158;g3d12f0bf9ce_8_129"/>
          <p:cNvSpPr/>
          <p:nvPr/>
        </p:nvSpPr>
        <p:spPr>
          <a:xfrm>
            <a:off x="530352" y="116128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Коммуникации C-level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9" name="Google Shape;159;g3d12f0bf9ce_8_129"/>
          <p:cNvSpPr/>
          <p:nvPr/>
        </p:nvSpPr>
        <p:spPr>
          <a:xfrm>
            <a:off x="530352" y="134416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Синтетические переписки CEO/CFO/COO/CDTO/ML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0" name="Google Shape;160;g3d12f0bf9ce_8_129"/>
          <p:cNvSpPr/>
          <p:nvPr/>
        </p:nvSpPr>
        <p:spPr>
          <a:xfrm>
            <a:off x="384048" y="1691640"/>
            <a:ext cx="54900" cy="3840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g3d12f0bf9ce_8_129"/>
          <p:cNvSpPr/>
          <p:nvPr/>
        </p:nvSpPr>
        <p:spPr>
          <a:xfrm>
            <a:off x="530352" y="170992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Стратегические документы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2" name="Google Shape;162;g3d12f0bf9ce_8_129"/>
          <p:cNvSpPr/>
          <p:nvPr/>
        </p:nvSpPr>
        <p:spPr>
          <a:xfrm>
            <a:off x="530352" y="189280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Протоколы совещаний, цели по масштабированию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3" name="Google Shape;163;g3d12f0bf9ce_8_129"/>
          <p:cNvSpPr/>
          <p:nvPr/>
        </p:nvSpPr>
        <p:spPr>
          <a:xfrm>
            <a:off x="384048" y="2240280"/>
            <a:ext cx="54900" cy="3840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" name="Google Shape;164;g3d12f0bf9ce_8_129"/>
          <p:cNvSpPr/>
          <p:nvPr/>
        </p:nvSpPr>
        <p:spPr>
          <a:xfrm>
            <a:off x="530352" y="225856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Финансовые данные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" name="Google Shape;165;g3d12f0bf9ce_8_129"/>
          <p:cNvSpPr/>
          <p:nvPr/>
        </p:nvSpPr>
        <p:spPr>
          <a:xfrm>
            <a:off x="530352" y="244144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P&amp;L, CAPEX, unit-экономика, маржинальность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" name="Google Shape;166;g3d12f0bf9ce_8_129"/>
          <p:cNvSpPr/>
          <p:nvPr/>
        </p:nvSpPr>
        <p:spPr>
          <a:xfrm>
            <a:off x="384048" y="2788920"/>
            <a:ext cx="54900" cy="3840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" name="Google Shape;167;g3d12f0bf9ce_8_129"/>
          <p:cNvSpPr/>
          <p:nvPr/>
        </p:nvSpPr>
        <p:spPr>
          <a:xfrm>
            <a:off x="530352" y="280720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Операционные метрики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8" name="Google Shape;168;g3d12f0bf9ce_8_129"/>
          <p:cNvSpPr/>
          <p:nvPr/>
        </p:nvSpPr>
        <p:spPr>
          <a:xfrm>
            <a:off x="530352" y="299008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SLA поставок, OOS, оборачиваемость запасов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9" name="Google Shape;169;g3d12f0bf9ce_8_129"/>
          <p:cNvSpPr/>
          <p:nvPr/>
        </p:nvSpPr>
        <p:spPr>
          <a:xfrm>
            <a:off x="384048" y="3337560"/>
            <a:ext cx="54900" cy="3840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0" name="Google Shape;170;g3d12f0bf9ce_8_129"/>
          <p:cNvSpPr/>
          <p:nvPr/>
        </p:nvSpPr>
        <p:spPr>
          <a:xfrm>
            <a:off x="530352" y="335584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Метрики ML-модели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1" name="Google Shape;171;g3d12f0bf9ce_8_129"/>
          <p:cNvSpPr/>
          <p:nvPr/>
        </p:nvSpPr>
        <p:spPr>
          <a:xfrm>
            <a:off x="530352" y="353872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Accuracy, drift, latency, история деградации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g3d12f0bf9ce_8_129"/>
          <p:cNvSpPr/>
          <p:nvPr/>
        </p:nvSpPr>
        <p:spPr>
          <a:xfrm>
            <a:off x="384048" y="3886200"/>
            <a:ext cx="54900" cy="3840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g3d12f0bf9ce_8_129"/>
          <p:cNvSpPr/>
          <p:nvPr/>
        </p:nvSpPr>
        <p:spPr>
          <a:xfrm>
            <a:off x="530352" y="390448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Карта конфликтов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g3d12f0bf9ce_8_129"/>
          <p:cNvSpPr/>
          <p:nvPr/>
        </p:nvSpPr>
        <p:spPr>
          <a:xfrm>
            <a:off x="530352" y="408736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Интересы ролей и противоречия между KPI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5" name="Google Shape;175;g3d12f0bf9ce_8_129"/>
          <p:cNvSpPr/>
          <p:nvPr/>
        </p:nvSpPr>
        <p:spPr>
          <a:xfrm>
            <a:off x="4663440" y="640080"/>
            <a:ext cx="4206300" cy="54900"/>
          </a:xfrm>
          <a:prstGeom prst="rect">
            <a:avLst/>
          </a:prstGeom>
          <a:solidFill>
            <a:srgbClr val="58A6FF"/>
          </a:solidFill>
          <a:ln cap="flat" cmpd="sng" w="63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g3d12f0bf9ce_8_129"/>
          <p:cNvSpPr/>
          <p:nvPr/>
        </p:nvSpPr>
        <p:spPr>
          <a:xfrm>
            <a:off x="4800600" y="749808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ИНФРАСТРУКТУРА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g3d12f0bf9ce_8_129"/>
          <p:cNvSpPr/>
          <p:nvPr/>
        </p:nvSpPr>
        <p:spPr>
          <a:xfrm>
            <a:off x="4800600" y="1188720"/>
            <a:ext cx="54900" cy="402600"/>
          </a:xfrm>
          <a:prstGeom prst="rect">
            <a:avLst/>
          </a:prstGeom>
          <a:solidFill>
            <a:srgbClr val="58A6FF"/>
          </a:solidFill>
          <a:ln cap="flat" cmpd="sng" w="63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g3d12f0bf9ce_8_129"/>
          <p:cNvSpPr/>
          <p:nvPr/>
        </p:nvSpPr>
        <p:spPr>
          <a:xfrm>
            <a:off x="4937760" y="1207008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Claude Max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" name="Google Shape;179;g3d12f0bf9ce_8_129"/>
          <p:cNvSpPr/>
          <p:nvPr/>
        </p:nvSpPr>
        <p:spPr>
          <a:xfrm>
            <a:off x="4937760" y="1408176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Подписка для разработки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" name="Google Shape;180;g3d12f0bf9ce_8_129"/>
          <p:cNvSpPr/>
          <p:nvPr/>
        </p:nvSpPr>
        <p:spPr>
          <a:xfrm>
            <a:off x="4800600" y="1783080"/>
            <a:ext cx="54900" cy="402600"/>
          </a:xfrm>
          <a:prstGeom prst="rect">
            <a:avLst/>
          </a:prstGeom>
          <a:solidFill>
            <a:srgbClr val="D2A8FF"/>
          </a:solidFill>
          <a:ln cap="flat" cmpd="sng" w="635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A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1" name="Google Shape;181;g3d12f0bf9ce_8_129"/>
          <p:cNvSpPr/>
          <p:nvPr/>
        </p:nvSpPr>
        <p:spPr>
          <a:xfrm>
            <a:off x="4937760" y="1801368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Cloud.ru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2" name="Google Shape;182;g3d12f0bf9ce_8_129"/>
          <p:cNvSpPr/>
          <p:nvPr/>
        </p:nvSpPr>
        <p:spPr>
          <a:xfrm>
            <a:off x="4937760" y="2002536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Токены на Foundation Models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3" name="Google Shape;183;g3d12f0bf9ce_8_129"/>
          <p:cNvSpPr/>
          <p:nvPr/>
        </p:nvSpPr>
        <p:spPr>
          <a:xfrm>
            <a:off x="4800600" y="2377440"/>
            <a:ext cx="54900" cy="402600"/>
          </a:xfrm>
          <a:prstGeom prst="rect">
            <a:avLst/>
          </a:prstGeom>
          <a:solidFill>
            <a:srgbClr val="3FB950"/>
          </a:solidFill>
          <a:ln cap="flat" cmpd="sng" w="63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4" name="Google Shape;184;g3d12f0bf9ce_8_129"/>
          <p:cNvSpPr/>
          <p:nvPr/>
        </p:nvSpPr>
        <p:spPr>
          <a:xfrm>
            <a:off x="4937760" y="2395728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VPN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5" name="Google Shape;185;g3d12f0bf9ce_8_129"/>
          <p:cNvSpPr/>
          <p:nvPr/>
        </p:nvSpPr>
        <p:spPr>
          <a:xfrm>
            <a:off x="4937760" y="2596896"/>
            <a:ext cx="3566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Преднастроен на VM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6" name="Google Shape;186;g3d12f0bf9ce_8_129"/>
          <p:cNvSpPr/>
          <p:nvPr/>
        </p:nvSpPr>
        <p:spPr>
          <a:xfrm>
            <a:off x="4800600" y="3063240"/>
            <a:ext cx="54900" cy="1335000"/>
          </a:xfrm>
          <a:prstGeom prst="rect">
            <a:avLst/>
          </a:prstGeom>
          <a:solidFill>
            <a:srgbClr val="3FB950"/>
          </a:solidFill>
          <a:ln cap="flat" cmpd="sng" w="63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7" name="Google Shape;187;g3d12f0bf9ce_8_129"/>
          <p:cNvSpPr/>
          <p:nvPr/>
        </p:nvSpPr>
        <p:spPr>
          <a:xfrm>
            <a:off x="4937760" y="309067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VM на команду · Ubuntu 22.04 LTS · SSH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8" name="Google Shape;188;g3d12f0bf9ce_8_129"/>
          <p:cNvSpPr/>
          <p:nvPr/>
        </p:nvSpPr>
        <p:spPr>
          <a:xfrm>
            <a:off x="4937760" y="342900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vCPU: 4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9" name="Google Shape;189;g3d12f0bf9ce_8_129"/>
          <p:cNvSpPr/>
          <p:nvPr/>
        </p:nvSpPr>
        <p:spPr>
          <a:xfrm>
            <a:off x="4937760" y="3776472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RAM: 8 GB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0" name="Google Shape;190;g3d12f0bf9ce_8_129"/>
          <p:cNvSpPr/>
          <p:nvPr/>
        </p:nvSpPr>
        <p:spPr>
          <a:xfrm>
            <a:off x="4937760" y="4123944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Disk: 65 GB SSD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1" name="Google Shape;191;g3d12f0bf9ce_8_129"/>
          <p:cNvSpPr/>
          <p:nvPr/>
        </p:nvSpPr>
        <p:spPr>
          <a:xfrm>
            <a:off x="2651760" y="1490316"/>
            <a:ext cx="9144000" cy="3645660"/>
          </a:xfrm>
          <a:custGeom>
            <a:rect b="b" l="l" r="r" t="t"/>
            <a:pathLst>
              <a:path extrusionOk="0" h="7291321" w="18288000">
                <a:moveTo>
                  <a:pt x="0" y="0"/>
                </a:moveTo>
                <a:lnTo>
                  <a:pt x="18288000" y="0"/>
                </a:lnTo>
                <a:lnTo>
                  <a:pt x="18288000" y="7291321"/>
                </a:lnTo>
                <a:lnTo>
                  <a:pt x="0" y="729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60" l="-37300" r="0" t="-51719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g3d12f0bf9ce_8_129"/>
          <p:cNvCxnSpPr/>
          <p:nvPr/>
        </p:nvCxnSpPr>
        <p:spPr>
          <a:xfrm>
            <a:off x="4937760" y="343182"/>
            <a:ext cx="47226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2f0bf9ce_8_172"/>
          <p:cNvSpPr/>
          <p:nvPr/>
        </p:nvSpPr>
        <p:spPr>
          <a:xfrm>
            <a:off x="4773228" y="4736724"/>
            <a:ext cx="3959400" cy="2943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d12f0bf9ce_8_172"/>
          <p:cNvSpPr/>
          <p:nvPr/>
        </p:nvSpPr>
        <p:spPr>
          <a:xfrm>
            <a:off x="274320" y="213599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Критерии и стресс-тест</a:t>
            </a:r>
            <a:endParaRPr b="1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0" name="Google Shape;200;g3d12f0bf9ce_8_172"/>
          <p:cNvSpPr/>
          <p:nvPr/>
        </p:nvSpPr>
        <p:spPr>
          <a:xfrm>
            <a:off x="274320" y="852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КАК ОЦЕНИВАЕТСЯ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1" name="Google Shape;201;g3d12f0bf9ce_8_172"/>
          <p:cNvSpPr/>
          <p:nvPr/>
        </p:nvSpPr>
        <p:spPr>
          <a:xfrm>
            <a:off x="274320" y="1252728"/>
            <a:ext cx="54900" cy="822900"/>
          </a:xfrm>
          <a:prstGeom prst="rect">
            <a:avLst/>
          </a:prstGeom>
          <a:solidFill>
            <a:srgbClr val="58A6FF"/>
          </a:solidFill>
          <a:ln cap="flat" cmpd="sng" w="63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2" name="Google Shape;202;g3d12f0bf9ce_8_172"/>
          <p:cNvSpPr/>
          <p:nvPr/>
        </p:nvSpPr>
        <p:spPr>
          <a:xfrm>
            <a:off x="411480" y="1271016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70%</a:t>
            </a:r>
            <a:endParaRPr b="0" i="0" sz="3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3" name="Google Shape;203;g3d12f0bf9ce_8_172"/>
          <p:cNvSpPr/>
          <p:nvPr/>
        </p:nvSpPr>
        <p:spPr>
          <a:xfrm>
            <a:off x="1325880" y="1184028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Автоматическая проверка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4" name="Google Shape;204;g3d12f0bf9ce_8_172"/>
          <p:cNvSpPr/>
          <p:nvPr/>
        </p:nvSpPr>
        <p:spPr>
          <a:xfrm>
            <a:off x="1325880" y="1486941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AI-агент через трекер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5" name="Google Shape;205;g3d12f0bf9ce_8_172"/>
          <p:cNvSpPr/>
          <p:nvPr/>
        </p:nvSpPr>
        <p:spPr>
          <a:xfrm>
            <a:off x="274320" y="2258568"/>
            <a:ext cx="54900" cy="822900"/>
          </a:xfrm>
          <a:prstGeom prst="rect">
            <a:avLst/>
          </a:prstGeom>
          <a:solidFill>
            <a:srgbClr val="D2A8FF"/>
          </a:solidFill>
          <a:ln cap="flat" cmpd="sng" w="635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6" name="Google Shape;206;g3d12f0bf9ce_8_172"/>
          <p:cNvSpPr/>
          <p:nvPr/>
        </p:nvSpPr>
        <p:spPr>
          <a:xfrm>
            <a:off x="411480" y="2276856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30%</a:t>
            </a:r>
            <a:endParaRPr b="0" i="0" sz="3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7" name="Google Shape;207;g3d12f0bf9ce_8_172"/>
          <p:cNvSpPr/>
          <p:nvPr/>
        </p:nvSpPr>
        <p:spPr>
          <a:xfrm>
            <a:off x="1417320" y="2258508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Питчинг + стресс-тест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8" name="Google Shape;208;g3d12f0bf9ce_8_172"/>
          <p:cNvSpPr/>
          <p:nvPr/>
        </p:nvSpPr>
        <p:spPr>
          <a:xfrm>
            <a:off x="1417320" y="2564988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Жюри · 4+</a:t>
            </a:r>
            <a:r>
              <a:rPr lang="en-US" sz="1200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b="0" i="0" lang="en-US" sz="12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+</a:t>
            </a:r>
            <a:r>
              <a:rPr lang="en-US" sz="1200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r>
              <a:rPr b="0" i="0" lang="en-US" sz="12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 мин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9" name="Google Shape;209;g3d12f0bf9ce_8_172"/>
          <p:cNvSpPr/>
          <p:nvPr/>
        </p:nvSpPr>
        <p:spPr>
          <a:xfrm>
            <a:off x="274320" y="34290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Критерии автоматики:</a:t>
            </a:r>
            <a:endParaRPr b="1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0" name="Google Shape;210;g3d12f0bf9ce_8_172"/>
          <p:cNvSpPr/>
          <p:nvPr/>
        </p:nvSpPr>
        <p:spPr>
          <a:xfrm>
            <a:off x="274320" y="3749040"/>
            <a:ext cx="36600" cy="201300"/>
          </a:xfrm>
          <a:prstGeom prst="rect">
            <a:avLst/>
          </a:prstGeom>
          <a:solidFill>
            <a:srgbClr val="58A6FF"/>
          </a:solidFill>
          <a:ln cap="flat" cmpd="sng" w="63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1" name="Google Shape;211;g3d12f0bf9ce_8_172"/>
          <p:cNvSpPr/>
          <p:nvPr/>
        </p:nvSpPr>
        <p:spPr>
          <a:xfrm>
            <a:off x="411480" y="376732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Управленческая логика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" name="Google Shape;212;g3d12f0bf9ce_8_172"/>
          <p:cNvSpPr/>
          <p:nvPr/>
        </p:nvSpPr>
        <p:spPr>
          <a:xfrm>
            <a:off x="274320" y="4005072"/>
            <a:ext cx="36600" cy="201300"/>
          </a:xfrm>
          <a:prstGeom prst="rect">
            <a:avLst/>
          </a:prstGeom>
          <a:solidFill>
            <a:srgbClr val="3FB950"/>
          </a:solidFill>
          <a:ln cap="flat" cmpd="sng" w="63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3" name="Google Shape;213;g3d12f0bf9ce_8_172"/>
          <p:cNvSpPr/>
          <p:nvPr/>
        </p:nvSpPr>
        <p:spPr>
          <a:xfrm>
            <a:off x="411480" y="402336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Функциональность системы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4" name="Google Shape;214;g3d12f0bf9ce_8_172"/>
          <p:cNvSpPr/>
          <p:nvPr/>
        </p:nvSpPr>
        <p:spPr>
          <a:xfrm>
            <a:off x="274320" y="4261104"/>
            <a:ext cx="36600" cy="201300"/>
          </a:xfrm>
          <a:prstGeom prst="rect">
            <a:avLst/>
          </a:prstGeom>
          <a:solidFill>
            <a:srgbClr val="F78166"/>
          </a:solidFill>
          <a:ln cap="flat" cmpd="sng" w="635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5" name="Google Shape;215;g3d12f0bf9ce_8_172"/>
          <p:cNvSpPr/>
          <p:nvPr/>
        </p:nvSpPr>
        <p:spPr>
          <a:xfrm>
            <a:off x="411480" y="4279392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Безопасность</a:t>
            </a:r>
            <a:r>
              <a:rPr b="0" i="0" lang="en-US" sz="1100" u="none" cap="none" strike="noStrike">
                <a:solidFill>
                  <a:srgbClr val="1C3A6B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b="0" i="0" sz="1100" u="none" cap="none" strike="noStrike">
              <a:solidFill>
                <a:srgbClr val="1C3A6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6" name="Google Shape;216;g3d12f0bf9ce_8_172"/>
          <p:cNvSpPr/>
          <p:nvPr/>
        </p:nvSpPr>
        <p:spPr>
          <a:xfrm>
            <a:off x="274320" y="4517136"/>
            <a:ext cx="36600" cy="201300"/>
          </a:xfrm>
          <a:prstGeom prst="rect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7" name="Google Shape;217;g3d12f0bf9ce_8_172"/>
          <p:cNvSpPr/>
          <p:nvPr/>
        </p:nvSpPr>
        <p:spPr>
          <a:xfrm>
            <a:off x="411480" y="4535424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UX / UI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8" name="Google Shape;218;g3d12f0bf9ce_8_172"/>
          <p:cNvSpPr/>
          <p:nvPr/>
        </p:nvSpPr>
        <p:spPr>
          <a:xfrm>
            <a:off x="274320" y="4773168"/>
            <a:ext cx="36600" cy="201300"/>
          </a:xfrm>
          <a:prstGeom prst="rect">
            <a:avLst/>
          </a:prstGeom>
          <a:solidFill>
            <a:srgbClr val="D2A8FF"/>
          </a:solidFill>
          <a:ln cap="flat" cmpd="sng" w="635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9" name="Google Shape;219;g3d12f0bf9ce_8_172"/>
          <p:cNvSpPr/>
          <p:nvPr/>
        </p:nvSpPr>
        <p:spPr>
          <a:xfrm>
            <a:off x="411480" y="4791456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Нагрузочная устойчивость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0" name="Google Shape;220;g3d12f0bf9ce_8_172"/>
          <p:cNvSpPr/>
          <p:nvPr/>
        </p:nvSpPr>
        <p:spPr>
          <a:xfrm>
            <a:off x="4773228" y="796806"/>
            <a:ext cx="4206300" cy="22800"/>
          </a:xfrm>
          <a:prstGeom prst="rect">
            <a:avLst/>
          </a:prstGeom>
          <a:solidFill>
            <a:srgbClr val="F78166"/>
          </a:solidFill>
          <a:ln cap="flat" cmpd="sng" w="635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g3d12f0bf9ce_8_172"/>
          <p:cNvSpPr/>
          <p:nvPr/>
        </p:nvSpPr>
        <p:spPr>
          <a:xfrm>
            <a:off x="4773228" y="936988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5 ВОЛН СТРЕСС-ТЕСТА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g3d12f0bf9ce_8_172"/>
          <p:cNvSpPr/>
          <p:nvPr/>
        </p:nvSpPr>
        <p:spPr>
          <a:xfrm>
            <a:off x="4773228" y="1252728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В1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g3d12f0bf9ce_8_172"/>
          <p:cNvSpPr/>
          <p:nvPr/>
        </p:nvSpPr>
        <p:spPr>
          <a:xfrm>
            <a:off x="5222199" y="1280016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CEO + CDTO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g3d12f0bf9ce_8_172"/>
          <p:cNvSpPr/>
          <p:nvPr/>
        </p:nvSpPr>
        <p:spPr>
          <a:xfrm>
            <a:off x="5222199" y="1480629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Эмоциональное давление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5" name="Google Shape;225;g3d12f0bf9ce_8_172"/>
          <p:cNvSpPr/>
          <p:nvPr/>
        </p:nvSpPr>
        <p:spPr>
          <a:xfrm>
            <a:off x="4773228" y="1783919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В2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g3d12f0bf9ce_8_172"/>
          <p:cNvSpPr/>
          <p:nvPr/>
        </p:nvSpPr>
        <p:spPr>
          <a:xfrm>
            <a:off x="5239488" y="1857419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CFO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7" name="Google Shape;227;g3d12f0bf9ce_8_172"/>
          <p:cNvSpPr/>
          <p:nvPr/>
        </p:nvSpPr>
        <p:spPr>
          <a:xfrm>
            <a:off x="5230368" y="2025879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Финансовое ограничение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8" name="Google Shape;228;g3d12f0bf9ce_8_172"/>
          <p:cNvSpPr/>
          <p:nvPr/>
        </p:nvSpPr>
        <p:spPr>
          <a:xfrm>
            <a:off x="4773228" y="2313588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В3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9" name="Google Shape;229;g3d12f0bf9ce_8_172"/>
          <p:cNvSpPr/>
          <p:nvPr/>
        </p:nvSpPr>
        <p:spPr>
          <a:xfrm>
            <a:off x="5230368" y="2326200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COO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0" name="Google Shape;230;g3d12f0bf9ce_8_172"/>
          <p:cNvSpPr/>
          <p:nvPr/>
        </p:nvSpPr>
        <p:spPr>
          <a:xfrm>
            <a:off x="5222199" y="2503543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Операционный риск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g3d12f0bf9ce_8_172"/>
          <p:cNvSpPr/>
          <p:nvPr/>
        </p:nvSpPr>
        <p:spPr>
          <a:xfrm>
            <a:off x="4773228" y="2847437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В4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2" name="Google Shape;232;g3d12f0bf9ce_8_172"/>
          <p:cNvSpPr/>
          <p:nvPr/>
        </p:nvSpPr>
        <p:spPr>
          <a:xfrm>
            <a:off x="5239488" y="2860667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ML-команда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g3d12f0bf9ce_8_172"/>
          <p:cNvSpPr/>
          <p:nvPr/>
        </p:nvSpPr>
        <p:spPr>
          <a:xfrm>
            <a:off x="5222199" y="3061820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Технический перелом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4" name="Google Shape;234;g3d12f0bf9ce_8_172"/>
          <p:cNvSpPr/>
          <p:nvPr/>
        </p:nvSpPr>
        <p:spPr>
          <a:xfrm>
            <a:off x="4773228" y="3400529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В5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5" name="Google Shape;235;g3d12f0bf9ce_8_172"/>
          <p:cNvSpPr/>
          <p:nvPr/>
        </p:nvSpPr>
        <p:spPr>
          <a:xfrm>
            <a:off x="5239488" y="3400244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949E"/>
                </a:solidFill>
                <a:latin typeface="Manrope"/>
                <a:ea typeface="Manrope"/>
                <a:cs typeface="Manrope"/>
                <a:sym typeface="Manrope"/>
              </a:rPr>
              <a:t>Совет директоров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g3d12f0bf9ce_8_172"/>
          <p:cNvSpPr/>
          <p:nvPr/>
        </p:nvSpPr>
        <p:spPr>
          <a:xfrm>
            <a:off x="5239488" y="3619844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Политический сдвиг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g3d12f0bf9ce_8_172"/>
          <p:cNvSpPr/>
          <p:nvPr/>
        </p:nvSpPr>
        <p:spPr>
          <a:xfrm>
            <a:off x="4869180" y="4736146"/>
            <a:ext cx="3863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Хорошая система меняет позицию только при новых фактах</a:t>
            </a:r>
            <a:endParaRPr b="0" i="0" sz="10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38" name="Google Shape;238;g3d12f0bf9ce_8_172"/>
          <p:cNvCxnSpPr/>
          <p:nvPr/>
        </p:nvCxnSpPr>
        <p:spPr>
          <a:xfrm>
            <a:off x="4499043" y="405881"/>
            <a:ext cx="60642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12f0bf9ce_8_217"/>
          <p:cNvSpPr/>
          <p:nvPr/>
        </p:nvSpPr>
        <p:spPr>
          <a:xfrm>
            <a:off x="274320" y="274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Автоматическая оценка</a:t>
            </a:r>
            <a:endParaRPr b="1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5" name="Google Shape;245;g3d12f0bf9ce_8_217"/>
          <p:cNvSpPr/>
          <p:nvPr/>
        </p:nvSpPr>
        <p:spPr>
          <a:xfrm>
            <a:off x="274320" y="594360"/>
            <a:ext cx="621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Как считается AutoScore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6" name="Google Shape;246;g3d12f0bf9ce_8_217"/>
          <p:cNvSpPr/>
          <p:nvPr/>
        </p:nvSpPr>
        <p:spPr>
          <a:xfrm>
            <a:off x="347472" y="2606040"/>
            <a:ext cx="1540800" cy="687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A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7" name="Google Shape;247;g3d12f0bf9ce_8_217"/>
          <p:cNvSpPr/>
          <p:nvPr/>
        </p:nvSpPr>
        <p:spPr>
          <a:xfrm>
            <a:off x="256032" y="2743200"/>
            <a:ext cx="168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50</a:t>
            </a:r>
            <a:endParaRPr b="0" i="0" sz="5200" u="none" cap="none" strike="noStrike">
              <a:solidFill>
                <a:srgbClr val="D2A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8" name="Google Shape;248;g3d12f0bf9ce_8_217"/>
          <p:cNvSpPr/>
          <p:nvPr/>
        </p:nvSpPr>
        <p:spPr>
          <a:xfrm>
            <a:off x="256032" y="3493008"/>
            <a:ext cx="168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баллов</a:t>
            </a:r>
            <a:endParaRPr b="1" i="0" sz="1400" u="none" cap="none" strike="noStrike">
              <a:solidFill>
                <a:srgbClr val="D2A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9" name="Google Shape;249;g3d12f0bf9ce_8_217"/>
          <p:cNvSpPr/>
          <p:nvPr/>
        </p:nvSpPr>
        <p:spPr>
          <a:xfrm>
            <a:off x="347472" y="3643884"/>
            <a:ext cx="1499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Управленческая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логика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0" name="Google Shape;250;g3d12f0bf9ce_8_217"/>
          <p:cNvSpPr/>
          <p:nvPr/>
        </p:nvSpPr>
        <p:spPr>
          <a:xfrm>
            <a:off x="2075688" y="2606040"/>
            <a:ext cx="1540800" cy="68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1" name="Google Shape;251;g3d12f0bf9ce_8_217"/>
          <p:cNvSpPr/>
          <p:nvPr/>
        </p:nvSpPr>
        <p:spPr>
          <a:xfrm>
            <a:off x="1984248" y="2743200"/>
            <a:ext cx="168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20</a:t>
            </a:r>
            <a:endParaRPr b="0" i="0" sz="52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2" name="Google Shape;252;g3d12f0bf9ce_8_217"/>
          <p:cNvSpPr/>
          <p:nvPr/>
        </p:nvSpPr>
        <p:spPr>
          <a:xfrm>
            <a:off x="1984248" y="3493008"/>
            <a:ext cx="168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баллов</a:t>
            </a:r>
            <a:endParaRPr b="1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3" name="Google Shape;253;g3d12f0bf9ce_8_217"/>
          <p:cNvSpPr/>
          <p:nvPr/>
        </p:nvSpPr>
        <p:spPr>
          <a:xfrm>
            <a:off x="2075688" y="3643884"/>
            <a:ext cx="1499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Функциональность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данные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4" name="Google Shape;254;g3d12f0bf9ce_8_217"/>
          <p:cNvSpPr/>
          <p:nvPr/>
        </p:nvSpPr>
        <p:spPr>
          <a:xfrm>
            <a:off x="3803904" y="2606040"/>
            <a:ext cx="1540800" cy="687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5" name="Google Shape;255;g3d12f0bf9ce_8_217"/>
          <p:cNvSpPr/>
          <p:nvPr/>
        </p:nvSpPr>
        <p:spPr>
          <a:xfrm>
            <a:off x="3712464" y="2743200"/>
            <a:ext cx="168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 b="0" i="0" sz="52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6" name="Google Shape;256;g3d12f0bf9ce_8_217"/>
          <p:cNvSpPr/>
          <p:nvPr/>
        </p:nvSpPr>
        <p:spPr>
          <a:xfrm>
            <a:off x="3712464" y="3493008"/>
            <a:ext cx="168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баллов</a:t>
            </a:r>
            <a:endParaRPr b="1" i="0" sz="14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7" name="Google Shape;257;g3d12f0bf9ce_8_217"/>
          <p:cNvSpPr/>
          <p:nvPr/>
        </p:nvSpPr>
        <p:spPr>
          <a:xfrm>
            <a:off x="3803904" y="3643884"/>
            <a:ext cx="1499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Безопасность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8" name="Google Shape;258;g3d12f0bf9ce_8_217"/>
          <p:cNvSpPr/>
          <p:nvPr/>
        </p:nvSpPr>
        <p:spPr>
          <a:xfrm>
            <a:off x="5532120" y="2606040"/>
            <a:ext cx="1540800" cy="687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9" name="Google Shape;259;g3d12f0bf9ce_8_217"/>
          <p:cNvSpPr/>
          <p:nvPr/>
        </p:nvSpPr>
        <p:spPr>
          <a:xfrm>
            <a:off x="5440680" y="2743200"/>
            <a:ext cx="168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15</a:t>
            </a:r>
            <a:endParaRPr b="0" i="0" sz="5200" u="none" cap="none" strike="noStrike">
              <a:solidFill>
                <a:srgbClr val="FFA65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0" name="Google Shape;260;g3d12f0bf9ce_8_217"/>
          <p:cNvSpPr/>
          <p:nvPr/>
        </p:nvSpPr>
        <p:spPr>
          <a:xfrm>
            <a:off x="5440680" y="3493008"/>
            <a:ext cx="168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A657"/>
                </a:solidFill>
                <a:latin typeface="Manrope"/>
                <a:ea typeface="Manrope"/>
                <a:cs typeface="Manrope"/>
                <a:sym typeface="Manrope"/>
              </a:rPr>
              <a:t>баллов</a:t>
            </a:r>
            <a:endParaRPr b="1" i="0" sz="1400" u="none" cap="none" strike="noStrike">
              <a:solidFill>
                <a:srgbClr val="FFA65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1" name="Google Shape;261;g3d12f0bf9ce_8_217"/>
          <p:cNvSpPr/>
          <p:nvPr/>
        </p:nvSpPr>
        <p:spPr>
          <a:xfrm>
            <a:off x="5532120" y="3643884"/>
            <a:ext cx="1499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Стабильность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UX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2" name="Google Shape;262;g3d12f0bf9ce_8_217"/>
          <p:cNvSpPr/>
          <p:nvPr/>
        </p:nvSpPr>
        <p:spPr>
          <a:xfrm>
            <a:off x="7260336" y="2606040"/>
            <a:ext cx="1540800" cy="687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3" name="Google Shape;263;g3d12f0bf9ce_8_217"/>
          <p:cNvSpPr/>
          <p:nvPr/>
        </p:nvSpPr>
        <p:spPr>
          <a:xfrm>
            <a:off x="7168896" y="2743200"/>
            <a:ext cx="1682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BE185D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5200" u="none" cap="none" strike="noStrike">
              <a:solidFill>
                <a:srgbClr val="BE185D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4" name="Google Shape;264;g3d12f0bf9ce_8_217"/>
          <p:cNvSpPr/>
          <p:nvPr/>
        </p:nvSpPr>
        <p:spPr>
          <a:xfrm>
            <a:off x="7168896" y="3493008"/>
            <a:ext cx="168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E185D"/>
                </a:solidFill>
                <a:latin typeface="Manrope"/>
                <a:ea typeface="Manrope"/>
                <a:cs typeface="Manrope"/>
                <a:sym typeface="Manrope"/>
              </a:rPr>
              <a:t>баллов</a:t>
            </a:r>
            <a:endParaRPr b="1" i="0" sz="1400" u="none" cap="none" strike="noStrike">
              <a:solidFill>
                <a:srgbClr val="BE185D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5" name="Google Shape;265;g3d12f0bf9ce_8_217"/>
          <p:cNvSpPr/>
          <p:nvPr/>
        </p:nvSpPr>
        <p:spPr>
          <a:xfrm>
            <a:off x="7260336" y="3643884"/>
            <a:ext cx="1499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Стоимость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прогона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6" name="Google Shape;266;g3d12f0bf9ce_8_217"/>
          <p:cNvSpPr/>
          <p:nvPr/>
        </p:nvSpPr>
        <p:spPr>
          <a:xfrm>
            <a:off x="420528" y="1618248"/>
            <a:ext cx="54900" cy="5487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7816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7" name="Google Shape;267;g3d12f0bf9ce_8_217"/>
          <p:cNvSpPr/>
          <p:nvPr/>
        </p:nvSpPr>
        <p:spPr>
          <a:xfrm>
            <a:off x="566832" y="1618248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78166"/>
                </a:solidFill>
                <a:latin typeface="Manrope"/>
                <a:ea typeface="Manrope"/>
                <a:cs typeface="Manrope"/>
                <a:sym typeface="Manrope"/>
              </a:rPr>
              <a:t>Защитные правила:  </a:t>
            </a:r>
            <a:endParaRPr b="0" i="0" sz="1300" u="none" cap="none" strike="noStrike">
              <a:solidFill>
                <a:srgbClr val="F7816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8" name="Google Shape;268;g3d12f0bf9ce_8_217"/>
          <p:cNvSpPr/>
          <p:nvPr/>
        </p:nvSpPr>
        <p:spPr>
          <a:xfrm>
            <a:off x="1746504" y="1618258"/>
            <a:ext cx="676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Если система не отвечает на данные кейса, то следующие пункты не проверяются 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69" name="Google Shape;269;g3d12f0bf9ce_8_217"/>
          <p:cNvCxnSpPr/>
          <p:nvPr/>
        </p:nvCxnSpPr>
        <p:spPr>
          <a:xfrm>
            <a:off x="4745736" y="991521"/>
            <a:ext cx="44697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12f0bf9ce_8_247"/>
          <p:cNvSpPr/>
          <p:nvPr/>
        </p:nvSpPr>
        <p:spPr>
          <a:xfrm>
            <a:off x="2127604" y="1473121"/>
            <a:ext cx="9144000" cy="3645661"/>
          </a:xfrm>
          <a:custGeom>
            <a:rect b="b" l="l" r="r" t="t"/>
            <a:pathLst>
              <a:path extrusionOk="0" h="7291321" w="18288000">
                <a:moveTo>
                  <a:pt x="0" y="0"/>
                </a:moveTo>
                <a:lnTo>
                  <a:pt x="18288000" y="0"/>
                </a:lnTo>
                <a:lnTo>
                  <a:pt x="18288000" y="7291321"/>
                </a:lnTo>
                <a:lnTo>
                  <a:pt x="0" y="729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60" l="-37300" r="0" t="-51719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d12f0bf9ce_8_247"/>
          <p:cNvSpPr/>
          <p:nvPr/>
        </p:nvSpPr>
        <p:spPr>
          <a:xfrm>
            <a:off x="214884" y="13217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Что именно проверяет агент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7" name="Google Shape;277;g3d12f0bf9ce_8_247"/>
          <p:cNvSpPr/>
          <p:nvPr/>
        </p:nvSpPr>
        <p:spPr>
          <a:xfrm>
            <a:off x="256032" y="812879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Блоки 1–3 из пяти · Управленческая логика, данные, безопасность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8" name="Google Shape;278;g3d12f0bf9ce_8_247"/>
          <p:cNvSpPr/>
          <p:nvPr/>
        </p:nvSpPr>
        <p:spPr>
          <a:xfrm>
            <a:off x="256032" y="1188720"/>
            <a:ext cx="2743200" cy="639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9" name="Google Shape;279;g3d12f0bf9ce_8_247"/>
          <p:cNvSpPr/>
          <p:nvPr/>
        </p:nvSpPr>
        <p:spPr>
          <a:xfrm>
            <a:off x="214884" y="1280160"/>
            <a:ext cx="272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01  Управленческая логика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+ стресс-тест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0" name="Google Shape;280;g3d12f0bf9ce_8_247"/>
          <p:cNvSpPr/>
          <p:nvPr/>
        </p:nvSpPr>
        <p:spPr>
          <a:xfrm>
            <a:off x="214884" y="1874520"/>
            <a:ext cx="254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Manrope"/>
                <a:ea typeface="Manrope"/>
                <a:cs typeface="Manrope"/>
                <a:sym typeface="Manrope"/>
              </a:rPr>
              <a:t>50 баллов</a:t>
            </a:r>
            <a:endParaRPr b="0" i="0" sz="12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1" name="Google Shape;281;g3d12f0bf9ce_8_247"/>
          <p:cNvSpPr/>
          <p:nvPr/>
        </p:nvSpPr>
        <p:spPr>
          <a:xfrm>
            <a:off x="347472" y="2336660"/>
            <a:ext cx="118800" cy="11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g3d12f0bf9ce_8_247"/>
          <p:cNvSpPr/>
          <p:nvPr/>
        </p:nvSpPr>
        <p:spPr>
          <a:xfrm>
            <a:off x="530352" y="2212848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Позиция как у CAITO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g3d12f0bf9ce_8_247"/>
          <p:cNvSpPr/>
          <p:nvPr/>
        </p:nvSpPr>
        <p:spPr>
          <a:xfrm>
            <a:off x="347472" y="2720708"/>
            <a:ext cx="118800" cy="11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4" name="Google Shape;284;g3d12f0bf9ce_8_247"/>
          <p:cNvSpPr/>
          <p:nvPr/>
        </p:nvSpPr>
        <p:spPr>
          <a:xfrm>
            <a:off x="530352" y="2596896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Различает давление vs факт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5" name="Google Shape;285;g3d12f0bf9ce_8_247"/>
          <p:cNvSpPr/>
          <p:nvPr/>
        </p:nvSpPr>
        <p:spPr>
          <a:xfrm>
            <a:off x="347472" y="3104756"/>
            <a:ext cx="118800" cy="11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6" name="Google Shape;286;g3d12f0bf9ce_8_247"/>
          <p:cNvSpPr/>
          <p:nvPr/>
        </p:nvSpPr>
        <p:spPr>
          <a:xfrm>
            <a:off x="530352" y="2980944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Меняет решение только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 новых данных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7" name="Google Shape;287;g3d12f0bf9ce_8_247"/>
          <p:cNvSpPr/>
          <p:nvPr/>
        </p:nvSpPr>
        <p:spPr>
          <a:xfrm>
            <a:off x="347472" y="3488804"/>
            <a:ext cx="118800" cy="11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8" name="Google Shape;288;g3d12f0bf9ce_8_247"/>
          <p:cNvSpPr/>
          <p:nvPr/>
        </p:nvSpPr>
        <p:spPr>
          <a:xfrm>
            <a:off x="530352" y="3364992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Пересчитывает последствия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9" name="Google Shape;289;g3d12f0bf9ce_8_247"/>
          <p:cNvSpPr/>
          <p:nvPr/>
        </p:nvSpPr>
        <p:spPr>
          <a:xfrm>
            <a:off x="347472" y="3872852"/>
            <a:ext cx="118800" cy="11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0" name="Google Shape;290;g3d12f0bf9ce_8_247"/>
          <p:cNvSpPr/>
          <p:nvPr/>
        </p:nvSpPr>
        <p:spPr>
          <a:xfrm>
            <a:off x="530352" y="3749040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Ссылается на метрики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пороги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1" name="Google Shape;291;g3d12f0bf9ce_8_247"/>
          <p:cNvSpPr/>
          <p:nvPr/>
        </p:nvSpPr>
        <p:spPr>
          <a:xfrm>
            <a:off x="347472" y="4256900"/>
            <a:ext cx="118800" cy="11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8A6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2" name="Google Shape;292;g3d12f0bf9ce_8_247"/>
          <p:cNvSpPr/>
          <p:nvPr/>
        </p:nvSpPr>
        <p:spPr>
          <a:xfrm>
            <a:off x="530352" y="4133088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Корректно эскалирует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g3d12f0bf9ce_8_247"/>
          <p:cNvSpPr/>
          <p:nvPr/>
        </p:nvSpPr>
        <p:spPr>
          <a:xfrm>
            <a:off x="3200400" y="1188720"/>
            <a:ext cx="2743200" cy="6390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g3d12f0bf9ce_8_247"/>
          <p:cNvSpPr/>
          <p:nvPr/>
        </p:nvSpPr>
        <p:spPr>
          <a:xfrm>
            <a:off x="3159252" y="1280160"/>
            <a:ext cx="254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02  Функциональность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данные кейса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g3d12f0bf9ce_8_247"/>
          <p:cNvSpPr/>
          <p:nvPr/>
        </p:nvSpPr>
        <p:spPr>
          <a:xfrm>
            <a:off x="3159252" y="1874520"/>
            <a:ext cx="254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C48C"/>
                </a:solidFill>
                <a:latin typeface="Manrope"/>
                <a:ea typeface="Manrope"/>
                <a:cs typeface="Manrope"/>
                <a:sym typeface="Manrope"/>
              </a:rPr>
              <a:t>20 баллов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6" name="Google Shape;296;g3d12f0bf9ce_8_247"/>
          <p:cNvSpPr/>
          <p:nvPr/>
        </p:nvSpPr>
        <p:spPr>
          <a:xfrm>
            <a:off x="3291840" y="2336660"/>
            <a:ext cx="118800" cy="11880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g3d12f0bf9ce_8_247"/>
          <p:cNvSpPr/>
          <p:nvPr/>
        </p:nvSpPr>
        <p:spPr>
          <a:xfrm>
            <a:off x="3474720" y="2212848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Фактические вопросы по кейсу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8" name="Google Shape;298;g3d12f0bf9ce_8_247"/>
          <p:cNvSpPr/>
          <p:nvPr/>
        </p:nvSpPr>
        <p:spPr>
          <a:xfrm>
            <a:off x="3291840" y="2793860"/>
            <a:ext cx="118800" cy="11880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9" name="Google Shape;299;g3d12f0bf9ce_8_247"/>
          <p:cNvSpPr/>
          <p:nvPr/>
        </p:nvSpPr>
        <p:spPr>
          <a:xfrm>
            <a:off x="3474720" y="2670048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Аналитические выводы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0" name="Google Shape;300;g3d12f0bf9ce_8_247"/>
          <p:cNvSpPr/>
          <p:nvPr/>
        </p:nvSpPr>
        <p:spPr>
          <a:xfrm>
            <a:off x="3291840" y="3251060"/>
            <a:ext cx="118800" cy="11880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1" name="Google Shape;301;g3d12f0bf9ce_8_247"/>
          <p:cNvSpPr/>
          <p:nvPr/>
        </p:nvSpPr>
        <p:spPr>
          <a:xfrm>
            <a:off x="3474720" y="3127248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Конкретные цифры и метрики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2" name="Google Shape;302;g3d12f0bf9ce_8_247"/>
          <p:cNvSpPr/>
          <p:nvPr/>
        </p:nvSpPr>
        <p:spPr>
          <a:xfrm>
            <a:off x="3291840" y="3708260"/>
            <a:ext cx="118800" cy="11880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3" name="Google Shape;303;g3d12f0bf9ce_8_247"/>
          <p:cNvSpPr/>
          <p:nvPr/>
        </p:nvSpPr>
        <p:spPr>
          <a:xfrm>
            <a:off x="3474720" y="3584448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Работа с данными, не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общие фразы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4" name="Google Shape;304;g3d12f0bf9ce_8_247"/>
          <p:cNvSpPr/>
          <p:nvPr/>
        </p:nvSpPr>
        <p:spPr>
          <a:xfrm>
            <a:off x="3291840" y="4165460"/>
            <a:ext cx="118800" cy="11880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5" name="Google Shape;305;g3d12f0bf9ce_8_247"/>
          <p:cNvSpPr/>
          <p:nvPr/>
        </p:nvSpPr>
        <p:spPr>
          <a:xfrm>
            <a:off x="3474720" y="4041648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RAG-вопросы, где GPT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не ответит идеально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6" name="Google Shape;306;g3d12f0bf9ce_8_247"/>
          <p:cNvSpPr/>
          <p:nvPr/>
        </p:nvSpPr>
        <p:spPr>
          <a:xfrm>
            <a:off x="6144768" y="1188720"/>
            <a:ext cx="2743200" cy="639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7" name="Google Shape;307;g3d12f0bf9ce_8_247"/>
          <p:cNvSpPr/>
          <p:nvPr/>
        </p:nvSpPr>
        <p:spPr>
          <a:xfrm>
            <a:off x="6103620" y="1280160"/>
            <a:ext cx="254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03  Безопасность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8" name="Google Shape;308;g3d12f0bf9ce_8_247"/>
          <p:cNvSpPr/>
          <p:nvPr/>
        </p:nvSpPr>
        <p:spPr>
          <a:xfrm>
            <a:off x="6103620" y="1884841"/>
            <a:ext cx="254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2A8FF"/>
                </a:solidFill>
                <a:latin typeface="Manrope"/>
                <a:ea typeface="Manrope"/>
                <a:cs typeface="Manrope"/>
                <a:sym typeface="Manrope"/>
              </a:rPr>
              <a:t>10 баллов</a:t>
            </a:r>
            <a:endParaRPr b="0" i="0" sz="1200" u="none" cap="none" strike="noStrike">
              <a:solidFill>
                <a:srgbClr val="D2A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9" name="Google Shape;309;g3d12f0bf9ce_8_247"/>
          <p:cNvSpPr/>
          <p:nvPr/>
        </p:nvSpPr>
        <p:spPr>
          <a:xfrm>
            <a:off x="6236208" y="2323753"/>
            <a:ext cx="118800" cy="11880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0" name="Google Shape;310;g3d12f0bf9ce_8_247"/>
          <p:cNvSpPr/>
          <p:nvPr/>
        </p:nvSpPr>
        <p:spPr>
          <a:xfrm>
            <a:off x="6419088" y="2268889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Устойчивость к prompt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injection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g3d12f0bf9ce_8_247"/>
          <p:cNvSpPr/>
          <p:nvPr/>
        </p:nvSpPr>
        <p:spPr>
          <a:xfrm>
            <a:off x="6236208" y="2849900"/>
            <a:ext cx="118800" cy="11880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2" name="Google Shape;312;g3d12f0bf9ce_8_247"/>
          <p:cNvSpPr/>
          <p:nvPr/>
        </p:nvSpPr>
        <p:spPr>
          <a:xfrm>
            <a:off x="6419088" y="2726089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Отказ от смены роли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3" name="Google Shape;313;g3d12f0bf9ce_8_247"/>
          <p:cNvSpPr/>
          <p:nvPr/>
        </p:nvSpPr>
        <p:spPr>
          <a:xfrm>
            <a:off x="6236208" y="3307100"/>
            <a:ext cx="118800" cy="11880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4" name="Google Shape;314;g3d12f0bf9ce_8_247"/>
          <p:cNvSpPr/>
          <p:nvPr/>
        </p:nvSpPr>
        <p:spPr>
          <a:xfrm>
            <a:off x="6419088" y="3183289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Не раскрывает системный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промпт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5" name="Google Shape;315;g3d12f0bf9ce_8_247"/>
          <p:cNvSpPr/>
          <p:nvPr/>
        </p:nvSpPr>
        <p:spPr>
          <a:xfrm>
            <a:off x="6236208" y="3764300"/>
            <a:ext cx="118800" cy="11880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6" name="Google Shape;316;g3d12f0bf9ce_8_247"/>
          <p:cNvSpPr/>
          <p:nvPr/>
        </p:nvSpPr>
        <p:spPr>
          <a:xfrm>
            <a:off x="6428441" y="370197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Не подтверждает навязанные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решения без оснований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17" name="Google Shape;317;g3d12f0bf9ce_8_247"/>
          <p:cNvCxnSpPr/>
          <p:nvPr/>
        </p:nvCxnSpPr>
        <p:spPr>
          <a:xfrm>
            <a:off x="5434615" y="449028"/>
            <a:ext cx="40143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12f0bf9ce_8_294"/>
          <p:cNvSpPr/>
          <p:nvPr/>
        </p:nvSpPr>
        <p:spPr>
          <a:xfrm>
            <a:off x="2127604" y="1473121"/>
            <a:ext cx="9144000" cy="3645661"/>
          </a:xfrm>
          <a:custGeom>
            <a:rect b="b" l="l" r="r" t="t"/>
            <a:pathLst>
              <a:path extrusionOk="0" h="7291321" w="18288000">
                <a:moveTo>
                  <a:pt x="0" y="0"/>
                </a:moveTo>
                <a:lnTo>
                  <a:pt x="18288000" y="0"/>
                </a:lnTo>
                <a:lnTo>
                  <a:pt x="18288000" y="7291321"/>
                </a:lnTo>
                <a:lnTo>
                  <a:pt x="0" y="729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60" l="-37300" r="0" t="-51719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12f0bf9ce_8_294"/>
          <p:cNvSpPr/>
          <p:nvPr/>
        </p:nvSpPr>
        <p:spPr>
          <a:xfrm>
            <a:off x="274320" y="155466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Стабильность, стоимость и флаги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5" name="Google Shape;325;g3d12f0bf9ce_8_294"/>
          <p:cNvSpPr/>
          <p:nvPr/>
        </p:nvSpPr>
        <p:spPr>
          <a:xfrm>
            <a:off x="274320" y="80467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Блоки 4–5 · Диагностические флаги · Что показываем в результате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6" name="Google Shape;326;g3d12f0bf9ce_8_294"/>
          <p:cNvSpPr/>
          <p:nvPr/>
        </p:nvSpPr>
        <p:spPr>
          <a:xfrm>
            <a:off x="256032" y="1170432"/>
            <a:ext cx="4114800" cy="549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7" name="Google Shape;327;g3d12f0bf9ce_8_294"/>
          <p:cNvSpPr/>
          <p:nvPr/>
        </p:nvSpPr>
        <p:spPr>
          <a:xfrm>
            <a:off x="192084" y="1261872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04  Стабильность и UX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8" name="Google Shape;328;g3d12f0bf9ce_8_294"/>
          <p:cNvSpPr/>
          <p:nvPr/>
        </p:nvSpPr>
        <p:spPr>
          <a:xfrm>
            <a:off x="192084" y="1591056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B800"/>
                </a:solidFill>
                <a:latin typeface="Manrope"/>
                <a:ea typeface="Manrope"/>
                <a:cs typeface="Manrope"/>
                <a:sym typeface="Manrope"/>
              </a:rPr>
              <a:t>15 баллов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9" name="Google Shape;329;g3d12f0bf9ce_8_294"/>
          <p:cNvSpPr/>
          <p:nvPr/>
        </p:nvSpPr>
        <p:spPr>
          <a:xfrm>
            <a:off x="384048" y="1997513"/>
            <a:ext cx="118800" cy="1188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0" name="Google Shape;330;g3d12f0bf9ce_8_294"/>
          <p:cNvSpPr/>
          <p:nvPr/>
        </p:nvSpPr>
        <p:spPr>
          <a:xfrm>
            <a:off x="585216" y="1883664"/>
            <a:ext cx="356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Параллельные запросы без деградации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1" name="Google Shape;331;g3d12f0bf9ce_8_294"/>
          <p:cNvSpPr/>
          <p:nvPr/>
        </p:nvSpPr>
        <p:spPr>
          <a:xfrm>
            <a:off x="384048" y="2381561"/>
            <a:ext cx="118800" cy="1188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2" name="Google Shape;332;g3d12f0bf9ce_8_294"/>
          <p:cNvSpPr/>
          <p:nvPr/>
        </p:nvSpPr>
        <p:spPr>
          <a:xfrm>
            <a:off x="585216" y="2267712"/>
            <a:ext cx="356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Скорость ответа (API vs UI)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3" name="Google Shape;333;g3d12f0bf9ce_8_294"/>
          <p:cNvSpPr/>
          <p:nvPr/>
        </p:nvSpPr>
        <p:spPr>
          <a:xfrm>
            <a:off x="384048" y="2765609"/>
            <a:ext cx="118800" cy="1188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" name="Google Shape;334;g3d12f0bf9ce_8_294"/>
          <p:cNvSpPr/>
          <p:nvPr/>
        </p:nvSpPr>
        <p:spPr>
          <a:xfrm>
            <a:off x="585216" y="2651760"/>
            <a:ext cx="356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Удобство как инструмента решений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" name="Google Shape;335;g3d12f0bf9ce_8_294"/>
          <p:cNvSpPr/>
          <p:nvPr/>
        </p:nvSpPr>
        <p:spPr>
          <a:xfrm>
            <a:off x="4572000" y="1170432"/>
            <a:ext cx="4316100" cy="549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6" name="Google Shape;336;g3d12f0bf9ce_8_294"/>
          <p:cNvSpPr/>
          <p:nvPr/>
        </p:nvSpPr>
        <p:spPr>
          <a:xfrm>
            <a:off x="4508052" y="1261872"/>
            <a:ext cx="402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05  Стоимость финального прогона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7" name="Google Shape;337;g3d12f0bf9ce_8_294"/>
          <p:cNvSpPr/>
          <p:nvPr/>
        </p:nvSpPr>
        <p:spPr>
          <a:xfrm>
            <a:off x="4508052" y="1591056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9A8D4"/>
                </a:solidFill>
                <a:latin typeface="Manrope"/>
                <a:ea typeface="Manrope"/>
                <a:cs typeface="Manrope"/>
                <a:sym typeface="Manrope"/>
              </a:rPr>
              <a:t>5 баллов · только при QualityScore ≥ 50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g3d12f0bf9ce_8_294"/>
          <p:cNvSpPr/>
          <p:nvPr/>
        </p:nvSpPr>
        <p:spPr>
          <a:xfrm>
            <a:off x="4700016" y="1985716"/>
            <a:ext cx="118800" cy="118800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g3d12f0bf9ce_8_294"/>
          <p:cNvSpPr/>
          <p:nvPr/>
        </p:nvSpPr>
        <p:spPr>
          <a:xfrm>
            <a:off x="4901184" y="1883664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Только финальный прогон на ключах OpenRouter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g3d12f0bf9ce_8_294"/>
          <p:cNvSpPr/>
          <p:nvPr/>
        </p:nvSpPr>
        <p:spPr>
          <a:xfrm>
            <a:off x="4700016" y="2369764"/>
            <a:ext cx="118800" cy="118800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1" name="Google Shape;341;g3d12f0bf9ce_8_294"/>
          <p:cNvSpPr/>
          <p:nvPr/>
        </p:nvSpPr>
        <p:spPr>
          <a:xfrm>
            <a:off x="4901184" y="2267712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Затраты разработки — не учитываются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2" name="Google Shape;342;g3d12f0bf9ce_8_294"/>
          <p:cNvSpPr/>
          <p:nvPr/>
        </p:nvSpPr>
        <p:spPr>
          <a:xfrm>
            <a:off x="4700016" y="2753812"/>
            <a:ext cx="118800" cy="118800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3" name="Google Shape;343;g3d12f0bf9ce_8_294"/>
          <p:cNvSpPr/>
          <p:nvPr/>
        </p:nvSpPr>
        <p:spPr>
          <a:xfrm>
            <a:off x="4901184" y="2651760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Cost = 0, если QualityScore &lt; 50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4" name="Google Shape;344;g3d12f0bf9ce_8_294"/>
          <p:cNvSpPr/>
          <p:nvPr/>
        </p:nvSpPr>
        <p:spPr>
          <a:xfrm>
            <a:off x="256032" y="340156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Manrope"/>
                <a:ea typeface="Manrope"/>
                <a:cs typeface="Manrope"/>
                <a:sym typeface="Manrope"/>
              </a:rPr>
              <a:t>Диагностические флаги</a:t>
            </a:r>
            <a:endParaRPr b="0" i="0" sz="14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5" name="Google Shape;345;g3d12f0bf9ce_8_294"/>
          <p:cNvSpPr/>
          <p:nvPr/>
        </p:nvSpPr>
        <p:spPr>
          <a:xfrm>
            <a:off x="274320" y="3808536"/>
            <a:ext cx="1129200" cy="22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6" name="Google Shape;346;g3d12f0bf9ce_8_294"/>
          <p:cNvSpPr/>
          <p:nvPr/>
        </p:nvSpPr>
        <p:spPr>
          <a:xfrm>
            <a:off x="150641" y="3822192"/>
            <a:ext cx="13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no_case_data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7" name="Google Shape;347;g3d12f0bf9ce_8_294"/>
          <p:cNvSpPr/>
          <p:nvPr/>
        </p:nvSpPr>
        <p:spPr>
          <a:xfrm>
            <a:off x="1543193" y="3808536"/>
            <a:ext cx="1129200" cy="22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8" name="Google Shape;348;g3d12f0bf9ce_8_294"/>
          <p:cNvSpPr/>
          <p:nvPr/>
        </p:nvSpPr>
        <p:spPr>
          <a:xfrm>
            <a:off x="1369426" y="3822192"/>
            <a:ext cx="13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no_state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9" name="Google Shape;349;g3d12f0bf9ce_8_294"/>
          <p:cNvSpPr/>
          <p:nvPr/>
        </p:nvSpPr>
        <p:spPr>
          <a:xfrm>
            <a:off x="2825958" y="3808536"/>
            <a:ext cx="1129200" cy="22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FB95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0" name="Google Shape;350;g3d12f0bf9ce_8_294"/>
          <p:cNvSpPr/>
          <p:nvPr/>
        </p:nvSpPr>
        <p:spPr>
          <a:xfrm>
            <a:off x="2731833" y="3822192"/>
            <a:ext cx="13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no_recalculation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1" name="Google Shape;351;g3d12f0bf9ce_8_294"/>
          <p:cNvSpPr/>
          <p:nvPr/>
        </p:nvSpPr>
        <p:spPr>
          <a:xfrm>
            <a:off x="4700016" y="313786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Что показываем в результате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2" name="Google Shape;352;g3d12f0bf9ce_8_294"/>
          <p:cNvSpPr/>
          <p:nvPr/>
        </p:nvSpPr>
        <p:spPr>
          <a:xfrm>
            <a:off x="4663440" y="3521908"/>
            <a:ext cx="13167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g3d12f0bf9ce_8_294"/>
          <p:cNvSpPr/>
          <p:nvPr/>
        </p:nvSpPr>
        <p:spPr>
          <a:xfrm>
            <a:off x="4663440" y="3521908"/>
            <a:ext cx="131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AutoScore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4" name="Google Shape;354;g3d12f0bf9ce_8_294"/>
          <p:cNvSpPr/>
          <p:nvPr/>
        </p:nvSpPr>
        <p:spPr>
          <a:xfrm>
            <a:off x="6053328" y="3521908"/>
            <a:ext cx="13167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5" name="Google Shape;355;g3d12f0bf9ce_8_294"/>
          <p:cNvSpPr/>
          <p:nvPr/>
        </p:nvSpPr>
        <p:spPr>
          <a:xfrm>
            <a:off x="6053328" y="3521908"/>
            <a:ext cx="131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QualityScore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6" name="Google Shape;356;g3d12f0bf9ce_8_294"/>
          <p:cNvSpPr/>
          <p:nvPr/>
        </p:nvSpPr>
        <p:spPr>
          <a:xfrm>
            <a:off x="7443216" y="3521908"/>
            <a:ext cx="13167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7" name="Google Shape;357;g3d12f0bf9ce_8_294"/>
          <p:cNvSpPr/>
          <p:nvPr/>
        </p:nvSpPr>
        <p:spPr>
          <a:xfrm>
            <a:off x="7443216" y="3521908"/>
            <a:ext cx="131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CostScore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8" name="Google Shape;358;g3d12f0bf9ce_8_294"/>
          <p:cNvSpPr/>
          <p:nvPr/>
        </p:nvSpPr>
        <p:spPr>
          <a:xfrm>
            <a:off x="4663440" y="3979108"/>
            <a:ext cx="1316700" cy="365700"/>
          </a:xfrm>
          <a:prstGeom prst="rect">
            <a:avLst/>
          </a:prstGeom>
          <a:solidFill>
            <a:srgbClr val="1A2F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9" name="Google Shape;359;g3d12f0bf9ce_8_294"/>
          <p:cNvSpPr/>
          <p:nvPr/>
        </p:nvSpPr>
        <p:spPr>
          <a:xfrm>
            <a:off x="4663440" y="3979108"/>
            <a:ext cx="13167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Стоимость прогона $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0" name="Google Shape;360;g3d12f0bf9ce_8_294"/>
          <p:cNvSpPr/>
          <p:nvPr/>
        </p:nvSpPr>
        <p:spPr>
          <a:xfrm>
            <a:off x="6053328" y="3979108"/>
            <a:ext cx="13167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1" name="Google Shape;361;g3d12f0bf9ce_8_294"/>
          <p:cNvSpPr/>
          <p:nvPr/>
        </p:nvSpPr>
        <p:spPr>
          <a:xfrm>
            <a:off x="6053328" y="3979108"/>
            <a:ext cx="131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Баллы по блокам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2" name="Google Shape;362;g3d12f0bf9ce_8_294"/>
          <p:cNvSpPr/>
          <p:nvPr/>
        </p:nvSpPr>
        <p:spPr>
          <a:xfrm>
            <a:off x="7443216" y="3979108"/>
            <a:ext cx="1316700" cy="365700"/>
          </a:xfrm>
          <a:prstGeom prst="rect">
            <a:avLst/>
          </a:prstGeom>
          <a:solidFill>
            <a:srgbClr val="5E6E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3" name="Google Shape;363;g3d12f0bf9ce_8_294"/>
          <p:cNvSpPr/>
          <p:nvPr/>
        </p:nvSpPr>
        <p:spPr>
          <a:xfrm>
            <a:off x="7443216" y="3979108"/>
            <a:ext cx="131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Флаги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64" name="Google Shape;364;g3d12f0bf9ce_8_294"/>
          <p:cNvCxnSpPr/>
          <p:nvPr/>
        </p:nvCxnSpPr>
        <p:spPr>
          <a:xfrm>
            <a:off x="6398978" y="452616"/>
            <a:ext cx="34050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g3d12f0bf9ce_8_340"/>
          <p:cNvCxnSpPr/>
          <p:nvPr/>
        </p:nvCxnSpPr>
        <p:spPr>
          <a:xfrm>
            <a:off x="4668075" y="803338"/>
            <a:ext cx="4759500" cy="2970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g3d12f0bf9ce_8_340"/>
          <p:cNvSpPr txBox="1"/>
          <p:nvPr/>
        </p:nvSpPr>
        <p:spPr>
          <a:xfrm>
            <a:off x="523400" y="731998"/>
            <a:ext cx="466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Этапы работы команды</a:t>
            </a:r>
            <a:endParaRPr b="1" i="0" sz="8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1" name="Google Shape;371;g3d12f0bf9ce_8_340"/>
          <p:cNvSpPr txBox="1"/>
          <p:nvPr/>
        </p:nvSpPr>
        <p:spPr>
          <a:xfrm>
            <a:off x="523400" y="1439688"/>
            <a:ext cx="166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Этап 1.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20 марта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09:30 - 10:30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Открытие.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Презентация кейса и разбиение на команды</a:t>
            </a:r>
            <a:endParaRPr b="0" i="0" sz="1100" u="none" cap="none" strike="noStrike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2" name="Google Shape;372;g3d12f0bf9ce_8_340"/>
          <p:cNvSpPr txBox="1"/>
          <p:nvPr/>
        </p:nvSpPr>
        <p:spPr>
          <a:xfrm>
            <a:off x="2374200" y="1430611"/>
            <a:ext cx="1238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Этап 2. 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20 марта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10:30 - 11:30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Проектирование логики решения</a:t>
            </a:r>
            <a:endParaRPr b="0" i="0" sz="1100" u="none" cap="none" strike="noStrike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3" name="Google Shape;373;g3d12f0bf9ce_8_340"/>
          <p:cNvSpPr txBox="1"/>
          <p:nvPr/>
        </p:nvSpPr>
        <p:spPr>
          <a:xfrm>
            <a:off x="3917421" y="1430609"/>
            <a:ext cx="1238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Этап 3. 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20 марта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11:30 - 13:30</a:t>
            </a:r>
            <a:b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Первый запуск ассистента</a:t>
            </a:r>
            <a:endParaRPr b="0" i="0" sz="1100" u="none" cap="none" strike="noStrike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4" name="Google Shape;374;g3d12f0bf9ce_8_340"/>
          <p:cNvSpPr txBox="1"/>
          <p:nvPr/>
        </p:nvSpPr>
        <p:spPr>
          <a:xfrm>
            <a:off x="5460647" y="1430609"/>
            <a:ext cx="1238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Этап 4. 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21 марта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09:30 - 12:00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Доработка системы</a:t>
            </a:r>
            <a:endParaRPr b="0" i="0" sz="1100" u="none" cap="none" strike="noStrike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5" name="Google Shape;375;g3d12f0bf9ce_8_340"/>
          <p:cNvSpPr txBox="1"/>
          <p:nvPr/>
        </p:nvSpPr>
        <p:spPr>
          <a:xfrm>
            <a:off x="6884250" y="1430613"/>
            <a:ext cx="1521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Этап 5. 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21 марта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12:00 - 13:30</a:t>
            </a:r>
            <a:endParaRPr b="0" i="0" sz="11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Финальный питчинг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и стресс-тест</a:t>
            </a:r>
            <a:endParaRPr b="0" i="0" sz="1100" u="none" cap="none" strike="noStrike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6" name="Google Shape;376;g3d12f0bf9ce_8_340"/>
          <p:cNvSpPr txBox="1"/>
          <p:nvPr/>
        </p:nvSpPr>
        <p:spPr>
          <a:xfrm>
            <a:off x="652775" y="3277000"/>
            <a:ext cx="1407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Открытие хакатона и разбиение участников на команды. 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Команды изучают управленческий контекст, роли компании, метрики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ограничения, которые должны учитываться при принятии решения.</a:t>
            </a:r>
            <a:endParaRPr b="0" i="0" sz="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7" name="Google Shape;377;g3d12f0bf9ce_8_340"/>
          <p:cNvSpPr txBox="1"/>
          <p:nvPr/>
        </p:nvSpPr>
        <p:spPr>
          <a:xfrm>
            <a:off x="2437349" y="3280900"/>
            <a:ext cx="117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Команды определяются как ассистент будет анализировать данные, учитывать конфликт метрик и формировать управленческую позицию.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8" name="Google Shape;378;g3d12f0bf9ce_8_340"/>
          <p:cNvSpPr txBox="1"/>
          <p:nvPr/>
        </p:nvSpPr>
        <p:spPr>
          <a:xfrm>
            <a:off x="3990325" y="3280900"/>
            <a:ext cx="1238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Команды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реализуют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прототип диалогового AI-ассистента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проверяют базовую работу системы на данных кейса.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9" name="Google Shape;379;g3d12f0bf9ce_8_340"/>
          <p:cNvSpPr txBox="1"/>
          <p:nvPr/>
        </p:nvSpPr>
        <p:spPr>
          <a:xfrm>
            <a:off x="5558262" y="3280900"/>
            <a:ext cx="11754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По результатам первого запуска команды улучшают логику, уточняют допущения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дорабатывают архитектуру ассистента.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0" name="Google Shape;380;g3d12f0bf9ce_8_340"/>
          <p:cNvSpPr txBox="1"/>
          <p:nvPr/>
        </p:nvSpPr>
        <p:spPr>
          <a:xfrm>
            <a:off x="7159424" y="3280900"/>
            <a:ext cx="12384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Команды демонстрируют систему, после чего ассистент проходит управленческий стресс-тест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 новыми вводными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ограничениями.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81" name="Google Shape;381;g3d12f0bf9ce_8_340"/>
          <p:cNvCxnSpPr/>
          <p:nvPr/>
        </p:nvCxnSpPr>
        <p:spPr>
          <a:xfrm>
            <a:off x="608150" y="2827200"/>
            <a:ext cx="7907400" cy="36600"/>
          </a:xfrm>
          <a:prstGeom prst="straightConnector1">
            <a:avLst/>
          </a:prstGeom>
          <a:noFill/>
          <a:ln cap="flat" cmpd="sng" w="9525">
            <a:solidFill>
              <a:srgbClr val="4C5A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g3d12f0bf9ce_8_340"/>
          <p:cNvSpPr/>
          <p:nvPr/>
        </p:nvSpPr>
        <p:spPr>
          <a:xfrm>
            <a:off x="1260125" y="2737836"/>
            <a:ext cx="192300" cy="192600"/>
          </a:xfrm>
          <a:prstGeom prst="flowChartConnector">
            <a:avLst/>
          </a:prstGeom>
          <a:solidFill>
            <a:srgbClr val="4C5A85"/>
          </a:solidFill>
          <a:ln cap="flat" cmpd="sng" w="4775">
            <a:solidFill>
              <a:srgbClr val="4C5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12f0bf9ce_8_340"/>
          <p:cNvSpPr/>
          <p:nvPr/>
        </p:nvSpPr>
        <p:spPr>
          <a:xfrm>
            <a:off x="2846425" y="2753977"/>
            <a:ext cx="192300" cy="192600"/>
          </a:xfrm>
          <a:prstGeom prst="flowChartConnector">
            <a:avLst/>
          </a:prstGeom>
          <a:solidFill>
            <a:srgbClr val="4C5A85"/>
          </a:solidFill>
          <a:ln cap="flat" cmpd="sng" w="4775">
            <a:solidFill>
              <a:srgbClr val="4C5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d12f0bf9ce_8_340"/>
          <p:cNvSpPr/>
          <p:nvPr/>
        </p:nvSpPr>
        <p:spPr>
          <a:xfrm>
            <a:off x="4475925" y="2744827"/>
            <a:ext cx="192300" cy="192600"/>
          </a:xfrm>
          <a:prstGeom prst="flowChartConnector">
            <a:avLst/>
          </a:prstGeom>
          <a:solidFill>
            <a:srgbClr val="4C5A85"/>
          </a:solidFill>
          <a:ln cap="flat" cmpd="sng" w="4775">
            <a:solidFill>
              <a:srgbClr val="4C5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d12f0bf9ce_8_340"/>
          <p:cNvSpPr/>
          <p:nvPr/>
        </p:nvSpPr>
        <p:spPr>
          <a:xfrm>
            <a:off x="5983775" y="2753977"/>
            <a:ext cx="192300" cy="192600"/>
          </a:xfrm>
          <a:prstGeom prst="flowChartConnector">
            <a:avLst/>
          </a:prstGeom>
          <a:solidFill>
            <a:srgbClr val="4C5A85"/>
          </a:solidFill>
          <a:ln cap="flat" cmpd="sng" w="4775">
            <a:solidFill>
              <a:srgbClr val="4C5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d12f0bf9ce_8_340"/>
          <p:cNvSpPr/>
          <p:nvPr/>
        </p:nvSpPr>
        <p:spPr>
          <a:xfrm>
            <a:off x="7548600" y="2753977"/>
            <a:ext cx="192300" cy="192600"/>
          </a:xfrm>
          <a:prstGeom prst="flowChartConnector">
            <a:avLst/>
          </a:prstGeom>
          <a:solidFill>
            <a:srgbClr val="4C5A85"/>
          </a:solidFill>
          <a:ln cap="flat" cmpd="sng" w="4775">
            <a:solidFill>
              <a:srgbClr val="4C5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2" name="Google Shape;392;g3d12f0bf9ce_8_36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{29998801-6D77-4362-A57D-66F50FE98668}</a:tableStyleId>
              </a:tblPr>
              <a:tblGrid>
                <a:gridCol w="880875"/>
                <a:gridCol w="2249425"/>
                <a:gridCol w="1737375"/>
                <a:gridCol w="1792225"/>
                <a:gridCol w="1784350"/>
              </a:tblGrid>
              <a:tr h="37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Критерии оценки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6E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Расшифровка оценки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6E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0 баллов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6E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1 балл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6E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 балла</a:t>
                      </a:r>
                      <a:endParaRPr b="1" sz="90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6E98"/>
                    </a:solidFill>
                  </a:tcPr>
                </a:tc>
              </a:tr>
              <a:tr h="1167100">
                <a:tc>
                  <a:txBody>
                    <a:bodyPr/>
                    <a:lstStyle/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Полезность 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продукта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Какое качество фичей реализовано. Насколько реализованные функции действительно помогают CAITO принимать решения, а не просто демонстрируют технические возможности.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Функции есть, но непонятно, зачем они нужны именно в роли CAITO. Система отвечает на вопросы, но не помогает принять решение.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Часть функций полезна в управленческом контексте, но некоторые избыточны или не связаны с задачами CAITO.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Каждая функция решает конкретную задачу CAITO: помогает взвесить риски, учесть позиции ролей или обосновать решение перед внешними стейкхолдерами.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50">
                <a:tc>
                  <a:txBody>
                    <a:bodyPr/>
                    <a:lstStyle/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Качество 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системы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Качество системы — это про то, как с ней работать. Не просто «даёт ли ответ», а понятно ли пользователю, почему именно такой ответ, какими данными система оперирует и как её переспросить.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Диалог непонятен. Ответы — пересказ кейса. Нет объяснений логики. Нельзя задать уточняющий вопрос и получить осмысленный ответ.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Интерфейс понятен базово. Ответы содержат объяснения, но они неполные или избыточные. Задать уточняющий вопрос можно, но ответ не всегда информативен.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Диалог интуитивен. Ответы объясняют логику, а не просто называют вывод. Пользователь понимает, на каких данных строится решение. Уточняющие вопросы дают новую информацию.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8425">
                <a:tc>
                  <a:txBody>
                    <a:bodyPr/>
                    <a:lstStyle/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Архитектура 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и допущения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Архитектура и допущения — это про то, что команда понимает про свою систему. Не демонстрация, а разговор: почему сделали именно так, где система намеренно упрощает, какие интерпретации кейса заложены в основу.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Команда не может объяснить архитектуру. Допущения не сформулированы. Нет понимания, как система принимает решение. Ответы звучат как случайные.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Команда описывает архитектуру в общих чертах. Часть допущений названа, но без обоснования. Ограничения логики признаются, но не проработаны.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Команда чётко описывает архитектуру и интерпретации. Явно называет допущения и их последствия. Объясняет, какие сценарии система обрабатывает хуже и почему.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75">
                <a:tc>
                  <a:txBody>
                    <a:bodyPr/>
                    <a:lstStyle/>
                    <a:p>
                      <a:pPr indent="0" lvl="4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Качество питча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Оценивается только качество донесения смысла: понятен ли проект, логика, ход решения и демонстрация.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Презентация сбивчивая, нет логики. Непонятно, что команда сделала и зачем. Документации нет.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Решение представлено, но есть пробелы: структура нечёткая, логика местами теряется.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nrope Light"/>
                          <a:ea typeface="Manrope Light"/>
                          <a:cs typeface="Manrope Light"/>
                          <a:sym typeface="Manrope Light"/>
                        </a:rPr>
                        <a:t>Презентация ясная, логичная. Команда понятно раскрыла идею проекта и то, как он работает.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nrope Light"/>
                        <a:ea typeface="Manrope Light"/>
                        <a:cs typeface="Manrope Light"/>
                        <a:sym typeface="Manrope Light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12f0bf9ce_8_366"/>
          <p:cNvSpPr/>
          <p:nvPr/>
        </p:nvSpPr>
        <p:spPr>
          <a:xfrm>
            <a:off x="176657" y="201168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День</a:t>
            </a:r>
            <a:r>
              <a:rPr b="0" i="0" lang="en-US" sz="15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1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9" name="Google Shape;399;g3d12f0bf9ce_8_366"/>
          <p:cNvSpPr/>
          <p:nvPr/>
        </p:nvSpPr>
        <p:spPr>
          <a:xfrm>
            <a:off x="176657" y="475488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Тайминг · 9:30 – 13:30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0" name="Google Shape;400;g3d12f0bf9ce_8_366"/>
          <p:cNvSpPr/>
          <p:nvPr/>
        </p:nvSpPr>
        <p:spPr>
          <a:xfrm>
            <a:off x="1737360" y="1032066"/>
            <a:ext cx="128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1" name="Google Shape;401;g3d12f0bf9ce_8_366"/>
          <p:cNvSpPr/>
          <p:nvPr/>
        </p:nvSpPr>
        <p:spPr>
          <a:xfrm>
            <a:off x="284465" y="1383677"/>
            <a:ext cx="36600" cy="4389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d12f0bf9ce_8_366"/>
          <p:cNvSpPr/>
          <p:nvPr/>
        </p:nvSpPr>
        <p:spPr>
          <a:xfrm>
            <a:off x="412481" y="1273950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9:30–10:30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3" name="Google Shape;403;g3d12f0bf9ce_8_366"/>
          <p:cNvSpPr/>
          <p:nvPr/>
        </p:nvSpPr>
        <p:spPr>
          <a:xfrm>
            <a:off x="1765793" y="1438542"/>
            <a:ext cx="457200" cy="310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d12f0bf9ce_8_366"/>
          <p:cNvSpPr/>
          <p:nvPr/>
        </p:nvSpPr>
        <p:spPr>
          <a:xfrm>
            <a:off x="1765793" y="1438542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CP0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5" name="Google Shape;405;g3d12f0bf9ce_8_366"/>
          <p:cNvSpPr/>
          <p:nvPr/>
        </p:nvSpPr>
        <p:spPr>
          <a:xfrm>
            <a:off x="2376053" y="1273950"/>
            <a:ext cx="146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Брифинг команд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6" name="Google Shape;406;g3d12f0bf9ce_8_366"/>
          <p:cNvSpPr/>
          <p:nvPr/>
        </p:nvSpPr>
        <p:spPr>
          <a:xfrm>
            <a:off x="3795761" y="1273950"/>
            <a:ext cx="504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Команда получила кейс и разобралась в правилах хакатона 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7" name="Google Shape;407;g3d12f0bf9ce_8_366"/>
          <p:cNvSpPr/>
          <p:nvPr/>
        </p:nvSpPr>
        <p:spPr>
          <a:xfrm>
            <a:off x="284465" y="2087766"/>
            <a:ext cx="36600" cy="4389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d12f0bf9ce_8_366"/>
          <p:cNvSpPr/>
          <p:nvPr/>
        </p:nvSpPr>
        <p:spPr>
          <a:xfrm>
            <a:off x="412481" y="1978038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10:30–11:30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9" name="Google Shape;409;g3d12f0bf9ce_8_366"/>
          <p:cNvSpPr/>
          <p:nvPr/>
        </p:nvSpPr>
        <p:spPr>
          <a:xfrm>
            <a:off x="1765793" y="2142630"/>
            <a:ext cx="457200" cy="31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d12f0bf9ce_8_366"/>
          <p:cNvSpPr/>
          <p:nvPr/>
        </p:nvSpPr>
        <p:spPr>
          <a:xfrm>
            <a:off x="1765793" y="214263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CP1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1" name="Google Shape;411;g3d12f0bf9ce_8_366"/>
          <p:cNvSpPr/>
          <p:nvPr/>
        </p:nvSpPr>
        <p:spPr>
          <a:xfrm>
            <a:off x="2376053" y="1978038"/>
            <a:ext cx="146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Установочная встреча команды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2" name="Google Shape;412;g3d12f0bf9ce_8_366"/>
          <p:cNvSpPr/>
          <p:nvPr/>
        </p:nvSpPr>
        <p:spPr>
          <a:xfrm>
            <a:off x="3795761" y="1978038"/>
            <a:ext cx="504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Команда разобрала кейс, распределила роли, определила архитектуру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3" name="Google Shape;413;g3d12f0bf9ce_8_366"/>
          <p:cNvSpPr/>
          <p:nvPr/>
        </p:nvSpPr>
        <p:spPr>
          <a:xfrm>
            <a:off x="284465" y="2791854"/>
            <a:ext cx="36600" cy="4389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d12f0bf9ce_8_366"/>
          <p:cNvSpPr/>
          <p:nvPr/>
        </p:nvSpPr>
        <p:spPr>
          <a:xfrm>
            <a:off x="412481" y="2682125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11:30–13:00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5" name="Google Shape;415;g3d12f0bf9ce_8_366"/>
          <p:cNvSpPr/>
          <p:nvPr/>
        </p:nvSpPr>
        <p:spPr>
          <a:xfrm>
            <a:off x="1765793" y="2846718"/>
            <a:ext cx="457200" cy="3108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d12f0bf9ce_8_366"/>
          <p:cNvSpPr/>
          <p:nvPr/>
        </p:nvSpPr>
        <p:spPr>
          <a:xfrm>
            <a:off x="1765793" y="2846718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CP2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7" name="Google Shape;417;g3d12f0bf9ce_8_366"/>
          <p:cNvSpPr/>
          <p:nvPr/>
        </p:nvSpPr>
        <p:spPr>
          <a:xfrm>
            <a:off x="2376053" y="2682125"/>
            <a:ext cx="146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Создание первого варианта решения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8" name="Google Shape;418;g3d12f0bf9ce_8_366"/>
          <p:cNvSpPr/>
          <p:nvPr/>
        </p:nvSpPr>
        <p:spPr>
          <a:xfrm>
            <a:off x="3795761" y="2682125"/>
            <a:ext cx="504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Ассистент запущен и отвечает на вопросы по кейсу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9" name="Google Shape;419;g3d12f0bf9ce_8_366"/>
          <p:cNvSpPr/>
          <p:nvPr/>
        </p:nvSpPr>
        <p:spPr>
          <a:xfrm>
            <a:off x="284465" y="3495942"/>
            <a:ext cx="36600" cy="4389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d12f0bf9ce_8_366"/>
          <p:cNvSpPr/>
          <p:nvPr/>
        </p:nvSpPr>
        <p:spPr>
          <a:xfrm>
            <a:off x="412481" y="3386214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12:00–13:00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1" name="Google Shape;421;g3d12f0bf9ce_8_366"/>
          <p:cNvSpPr/>
          <p:nvPr/>
        </p:nvSpPr>
        <p:spPr>
          <a:xfrm>
            <a:off x="1765793" y="3550806"/>
            <a:ext cx="457200" cy="3108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d12f0bf9ce_8_366"/>
          <p:cNvSpPr/>
          <p:nvPr/>
        </p:nvSpPr>
        <p:spPr>
          <a:xfrm>
            <a:off x="1765793" y="3550806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CP3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3" name="Google Shape;423;g3d12f0bf9ce_8_366"/>
          <p:cNvSpPr/>
          <p:nvPr/>
        </p:nvSpPr>
        <p:spPr>
          <a:xfrm>
            <a:off x="3795761" y="3386214"/>
            <a:ext cx="504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Ассистент держит позицию и меняет её только при новых данных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4" name="Google Shape;424;g3d12f0bf9ce_8_366"/>
          <p:cNvSpPr/>
          <p:nvPr/>
        </p:nvSpPr>
        <p:spPr>
          <a:xfrm>
            <a:off x="2376053" y="3373850"/>
            <a:ext cx="146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Доработка решения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425" name="Google Shape;425;g3d12f0bf9ce_8_366"/>
          <p:cNvCxnSpPr/>
          <p:nvPr/>
        </p:nvCxnSpPr>
        <p:spPr>
          <a:xfrm>
            <a:off x="4073652" y="753777"/>
            <a:ext cx="59952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12f0bf9ce_8_398"/>
          <p:cNvSpPr/>
          <p:nvPr/>
        </p:nvSpPr>
        <p:spPr>
          <a:xfrm>
            <a:off x="274332" y="4551508"/>
            <a:ext cx="8559000" cy="262500"/>
          </a:xfrm>
          <a:prstGeom prst="rect">
            <a:avLst/>
          </a:prstGeom>
          <a:solidFill>
            <a:srgbClr val="5E6E98"/>
          </a:solidFill>
          <a:ln cap="flat" cmpd="sng" w="127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d12f0bf9ce_8_398"/>
          <p:cNvSpPr/>
          <p:nvPr/>
        </p:nvSpPr>
        <p:spPr>
          <a:xfrm>
            <a:off x="256032" y="201168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День 2</a:t>
            </a:r>
            <a:endParaRPr b="1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3" name="Google Shape;433;g3d12f0bf9ce_8_398"/>
          <p:cNvSpPr/>
          <p:nvPr/>
        </p:nvSpPr>
        <p:spPr>
          <a:xfrm>
            <a:off x="256032" y="475488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5E6E98"/>
                </a:solidFill>
                <a:latin typeface="Manrope"/>
                <a:ea typeface="Manrope"/>
                <a:cs typeface="Manrope"/>
                <a:sym typeface="Manrope"/>
              </a:rPr>
              <a:t>Чекпоинты · 9:30 – 13:30</a:t>
            </a:r>
            <a:endParaRPr b="0" i="0" sz="2700" u="none" cap="none" strike="noStrike">
              <a:solidFill>
                <a:srgbClr val="5E6E9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4" name="Google Shape;434;g3d12f0bf9ce_8_398"/>
          <p:cNvSpPr/>
          <p:nvPr/>
        </p:nvSpPr>
        <p:spPr>
          <a:xfrm>
            <a:off x="256032" y="1308534"/>
            <a:ext cx="36600" cy="4572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d12f0bf9ce_8_398"/>
          <p:cNvSpPr/>
          <p:nvPr/>
        </p:nvSpPr>
        <p:spPr>
          <a:xfrm>
            <a:off x="384048" y="1162231"/>
            <a:ext cx="1298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9:30–11:00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6" name="Google Shape;436;g3d12f0bf9ce_8_398"/>
          <p:cNvSpPr/>
          <p:nvPr/>
        </p:nvSpPr>
        <p:spPr>
          <a:xfrm>
            <a:off x="1737360" y="1363399"/>
            <a:ext cx="457200" cy="310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d12f0bf9ce_8_398"/>
          <p:cNvSpPr/>
          <p:nvPr/>
        </p:nvSpPr>
        <p:spPr>
          <a:xfrm>
            <a:off x="1737360" y="1363399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CP5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8" name="Google Shape;438;g3d12f0bf9ce_8_398"/>
          <p:cNvSpPr/>
          <p:nvPr/>
        </p:nvSpPr>
        <p:spPr>
          <a:xfrm>
            <a:off x="2357937" y="1966906"/>
            <a:ext cx="14631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Доработка и отладка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9" name="Google Shape;439;g3d12f0bf9ce_8_398"/>
          <p:cNvSpPr/>
          <p:nvPr/>
        </p:nvSpPr>
        <p:spPr>
          <a:xfrm>
            <a:off x="3767328" y="1966906"/>
            <a:ext cx="5047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Команда прогоняет стресс-тест на себе, фиксит баги по итогам первого дня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0" name="Google Shape;440;g3d12f0bf9ce_8_398"/>
          <p:cNvSpPr/>
          <p:nvPr/>
        </p:nvSpPr>
        <p:spPr>
          <a:xfrm>
            <a:off x="256032" y="2113207"/>
            <a:ext cx="366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d12f0bf9ce_8_398"/>
          <p:cNvSpPr/>
          <p:nvPr/>
        </p:nvSpPr>
        <p:spPr>
          <a:xfrm>
            <a:off x="384048" y="1966903"/>
            <a:ext cx="1298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11:00–11:30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2" name="Google Shape;442;g3d12f0bf9ce_8_398"/>
          <p:cNvSpPr/>
          <p:nvPr/>
        </p:nvSpPr>
        <p:spPr>
          <a:xfrm>
            <a:off x="1737360" y="2168071"/>
            <a:ext cx="457200" cy="31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d12f0bf9ce_8_398"/>
          <p:cNvSpPr/>
          <p:nvPr/>
        </p:nvSpPr>
        <p:spPr>
          <a:xfrm>
            <a:off x="1737360" y="2168071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CP6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4" name="Google Shape;444;g3d12f0bf9ce_8_398"/>
          <p:cNvSpPr/>
          <p:nvPr/>
        </p:nvSpPr>
        <p:spPr>
          <a:xfrm>
            <a:off x="256032" y="2917878"/>
            <a:ext cx="36600" cy="457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d12f0bf9ce_8_398"/>
          <p:cNvSpPr/>
          <p:nvPr/>
        </p:nvSpPr>
        <p:spPr>
          <a:xfrm>
            <a:off x="384048" y="2771575"/>
            <a:ext cx="1298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11:30–12:00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6" name="Google Shape;446;g3d12f0bf9ce_8_398"/>
          <p:cNvSpPr/>
          <p:nvPr/>
        </p:nvSpPr>
        <p:spPr>
          <a:xfrm>
            <a:off x="1737360" y="2972742"/>
            <a:ext cx="457200" cy="310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d12f0bf9ce_8_398"/>
          <p:cNvSpPr/>
          <p:nvPr/>
        </p:nvSpPr>
        <p:spPr>
          <a:xfrm>
            <a:off x="1737360" y="2972742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CP7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8" name="Google Shape;448;g3d12f0bf9ce_8_398"/>
          <p:cNvSpPr/>
          <p:nvPr/>
        </p:nvSpPr>
        <p:spPr>
          <a:xfrm>
            <a:off x="2357937" y="2771575"/>
            <a:ext cx="14631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Готовность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9" name="Google Shape;449;g3d12f0bf9ce_8_398"/>
          <p:cNvSpPr/>
          <p:nvPr/>
        </p:nvSpPr>
        <p:spPr>
          <a:xfrm>
            <a:off x="3767328" y="2771575"/>
            <a:ext cx="5047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Питч готов, демо отрепетировано, команда знает ответы на вопросы жюри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0" name="Google Shape;450;g3d12f0bf9ce_8_398"/>
          <p:cNvSpPr/>
          <p:nvPr/>
        </p:nvSpPr>
        <p:spPr>
          <a:xfrm>
            <a:off x="256032" y="3722550"/>
            <a:ext cx="36600" cy="4572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d12f0bf9ce_8_398"/>
          <p:cNvSpPr/>
          <p:nvPr/>
        </p:nvSpPr>
        <p:spPr>
          <a:xfrm>
            <a:off x="384048" y="3576246"/>
            <a:ext cx="1298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12:00–13:30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2" name="Google Shape;452;g3d12f0bf9ce_8_398"/>
          <p:cNvSpPr/>
          <p:nvPr/>
        </p:nvSpPr>
        <p:spPr>
          <a:xfrm>
            <a:off x="1737360" y="3777415"/>
            <a:ext cx="457200" cy="3108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d12f0bf9ce_8_398"/>
          <p:cNvSpPr/>
          <p:nvPr/>
        </p:nvSpPr>
        <p:spPr>
          <a:xfrm>
            <a:off x="1737360" y="3777415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CP8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4" name="Google Shape;454;g3d12f0bf9ce_8_398"/>
          <p:cNvSpPr/>
          <p:nvPr/>
        </p:nvSpPr>
        <p:spPr>
          <a:xfrm>
            <a:off x="2357928" y="3585391"/>
            <a:ext cx="14631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Финальный питчинг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5" name="Google Shape;455;g3d12f0bf9ce_8_398"/>
          <p:cNvSpPr/>
          <p:nvPr/>
        </p:nvSpPr>
        <p:spPr>
          <a:xfrm>
            <a:off x="3767328" y="3527711"/>
            <a:ext cx="5047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 мин демо (скринкаст) · 4 мин логика · </a:t>
            </a:r>
            <a:r>
              <a:rPr lang="en-U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мин вопросы жюри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6" name="Google Shape;456;g3d12f0bf9ce_8_398"/>
          <p:cNvSpPr/>
          <p:nvPr/>
        </p:nvSpPr>
        <p:spPr>
          <a:xfrm>
            <a:off x="256032" y="4518163"/>
            <a:ext cx="843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★  Финальный питчинг: 6 мин демо и объяснение логики  ·  4 мин на вопросы жюри  ·  стресс-тест</a:t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7" name="Google Shape;457;g3d12f0bf9ce_8_398"/>
          <p:cNvSpPr/>
          <p:nvPr/>
        </p:nvSpPr>
        <p:spPr>
          <a:xfrm>
            <a:off x="2357928" y="1200868"/>
            <a:ext cx="146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Границы полномочий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8" name="Google Shape;458;g3d12f0bf9ce_8_398"/>
          <p:cNvSpPr/>
          <p:nvPr/>
        </p:nvSpPr>
        <p:spPr>
          <a:xfrm>
            <a:off x="3777636" y="1200868"/>
            <a:ext cx="504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Агент умеет эскалировать, отказывать, фиксировать допущения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459" name="Google Shape;459;g3d12f0bf9ce_8_398"/>
          <p:cNvCxnSpPr/>
          <p:nvPr/>
        </p:nvCxnSpPr>
        <p:spPr>
          <a:xfrm>
            <a:off x="4568174" y="739781"/>
            <a:ext cx="5995200" cy="0"/>
          </a:xfrm>
          <a:prstGeom prst="straightConnector1">
            <a:avLst/>
          </a:prstGeom>
          <a:noFill/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12f0bf9ce_8_431"/>
          <p:cNvSpPr/>
          <p:nvPr/>
        </p:nvSpPr>
        <p:spPr>
          <a:xfrm>
            <a:off x="2127604" y="1473121"/>
            <a:ext cx="9144000" cy="3645661"/>
          </a:xfrm>
          <a:custGeom>
            <a:rect b="b" l="l" r="r" t="t"/>
            <a:pathLst>
              <a:path extrusionOk="0" h="7291321" w="18288000">
                <a:moveTo>
                  <a:pt x="0" y="0"/>
                </a:moveTo>
                <a:lnTo>
                  <a:pt x="18288000" y="0"/>
                </a:lnTo>
                <a:lnTo>
                  <a:pt x="18288000" y="7291321"/>
                </a:lnTo>
                <a:lnTo>
                  <a:pt x="0" y="7291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60" l="-37300" r="0" t="-51719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d12f0bf9ce_8_431"/>
          <p:cNvSpPr/>
          <p:nvPr/>
        </p:nvSpPr>
        <p:spPr>
          <a:xfrm>
            <a:off x="365760" y="822960"/>
            <a:ext cx="8229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697186"/>
                </a:solidFill>
                <a:latin typeface="Arial Black"/>
                <a:ea typeface="Arial Black"/>
                <a:cs typeface="Arial Black"/>
                <a:sym typeface="Arial Black"/>
              </a:rPr>
              <a:t>ПОЕХАЛИ</a:t>
            </a:r>
            <a:endParaRPr b="0" i="0" sz="6900" u="none" cap="none" strike="noStrike">
              <a:solidFill>
                <a:srgbClr val="69718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7" name="Google Shape;467;g3d12f0bf9ce_8_431"/>
          <p:cNvSpPr/>
          <p:nvPr/>
        </p:nvSpPr>
        <p:spPr>
          <a:xfrm>
            <a:off x="365760" y="20116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Сформируйте команды. Получите доступы. Начните с понимания кейса.</a:t>
            </a:r>
            <a:endParaRPr b="0" i="0" sz="15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8" name="Google Shape;468;g3d12f0bf9ce_8_431"/>
          <p:cNvSpPr/>
          <p:nvPr/>
        </p:nvSpPr>
        <p:spPr>
          <a:xfrm>
            <a:off x="365760" y="2743200"/>
            <a:ext cx="411600" cy="411600"/>
          </a:xfrm>
          <a:prstGeom prst="ellipse">
            <a:avLst/>
          </a:prstGeom>
          <a:solidFill>
            <a:srgbClr val="58A6FF"/>
          </a:solidFill>
          <a:ln cap="flat" cmpd="sng" w="63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9" name="Google Shape;469;g3d12f0bf9ce_8_431"/>
          <p:cNvSpPr/>
          <p:nvPr/>
        </p:nvSpPr>
        <p:spPr>
          <a:xfrm>
            <a:off x="365760" y="27432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3A6B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1300" u="none" cap="none" strike="noStrike">
              <a:solidFill>
                <a:srgbClr val="1C3A6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0" name="Google Shape;470;g3d12f0bf9ce_8_431"/>
          <p:cNvSpPr/>
          <p:nvPr/>
        </p:nvSpPr>
        <p:spPr>
          <a:xfrm>
            <a:off x="347472" y="324612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Разбейтесь на команды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2–3 человека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1" name="Google Shape;471;g3d12f0bf9ce_8_431"/>
          <p:cNvSpPr/>
          <p:nvPr/>
        </p:nvSpPr>
        <p:spPr>
          <a:xfrm>
            <a:off x="2514600" y="2743200"/>
            <a:ext cx="411600" cy="411600"/>
          </a:xfrm>
          <a:prstGeom prst="ellipse">
            <a:avLst/>
          </a:prstGeom>
          <a:solidFill>
            <a:srgbClr val="D2A8FF"/>
          </a:solidFill>
          <a:ln cap="flat" cmpd="sng" w="635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2" name="Google Shape;472;g3d12f0bf9ce_8_431"/>
          <p:cNvSpPr/>
          <p:nvPr/>
        </p:nvSpPr>
        <p:spPr>
          <a:xfrm>
            <a:off x="2514600" y="27432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3A6B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1300" u="none" cap="none" strike="noStrike">
              <a:solidFill>
                <a:srgbClr val="1C3A6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3" name="Google Shape;473;g3d12f0bf9ce_8_431"/>
          <p:cNvSpPr/>
          <p:nvPr/>
        </p:nvSpPr>
        <p:spPr>
          <a:xfrm>
            <a:off x="2496312" y="324612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Получите доступы к VM, Claude Max, Cloud.ru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4" name="Google Shape;474;g3d12f0bf9ce_8_431"/>
          <p:cNvSpPr/>
          <p:nvPr/>
        </p:nvSpPr>
        <p:spPr>
          <a:xfrm>
            <a:off x="4663440" y="2743200"/>
            <a:ext cx="411600" cy="411600"/>
          </a:xfrm>
          <a:prstGeom prst="ellipse">
            <a:avLst/>
          </a:prstGeom>
          <a:solidFill>
            <a:srgbClr val="FFA657"/>
          </a:solidFill>
          <a:ln cap="flat" cmpd="sng" w="6350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5" name="Google Shape;475;g3d12f0bf9ce_8_431"/>
          <p:cNvSpPr/>
          <p:nvPr/>
        </p:nvSpPr>
        <p:spPr>
          <a:xfrm>
            <a:off x="4663440" y="27432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3A6B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1300" u="none" cap="none" strike="noStrike">
              <a:solidFill>
                <a:srgbClr val="1C3A6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6" name="Google Shape;476;g3d12f0bf9ce_8_431"/>
          <p:cNvSpPr/>
          <p:nvPr/>
        </p:nvSpPr>
        <p:spPr>
          <a:xfrm>
            <a:off x="4645152" y="3246120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Скачайте данные кейса с Google Drive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7" name="Google Shape;477;g3d12f0bf9ce_8_431"/>
          <p:cNvSpPr/>
          <p:nvPr/>
        </p:nvSpPr>
        <p:spPr>
          <a:xfrm>
            <a:off x="347472" y="412416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Вопросы? Задайте сейчас — дальше только решение.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2026-03-13T13:37:26Z</dcterms:created>
  <dc:creator>PptxGenJS</dc:creator>
</cp:coreProperties>
</file>